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Kollektif Bold" charset="1" panose="020B0604020101010102"/>
      <p:regular r:id="rId16"/>
    </p:embeddedFont>
    <p:embeddedFont>
      <p:font typeface="Now Bold" charset="1" panose="00000800000000000000"/>
      <p:regular r:id="rId17"/>
    </p:embeddedFont>
    <p:embeddedFont>
      <p:font typeface="Open Sans" charset="1" panose="020B0606030504020204"/>
      <p:regular r:id="rId18"/>
    </p:embeddedFont>
    <p:embeddedFont>
      <p:font typeface="League Spartan" charset="1" panose="00000800000000000000"/>
      <p:regular r:id="rId19"/>
    </p:embeddedFont>
    <p:embeddedFont>
      <p:font typeface="Raleway Bold" charset="1" panose="00000000000000000000"/>
      <p:regular r:id="rId20"/>
    </p:embeddedFont>
    <p:embeddedFont>
      <p:font typeface="Kollektif" charset="1" panose="020B0604020101010102"/>
      <p:regular r:id="rId21"/>
    </p:embeddedFont>
    <p:embeddedFont>
      <p:font typeface="Now" charset="1" panose="00000500000000000000"/>
      <p:regular r:id="rId22"/>
    </p:embeddedFont>
    <p:embeddedFont>
      <p:font typeface="Raleway"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3.png" Type="http://schemas.openxmlformats.org/officeDocument/2006/relationships/image"/><Relationship Id="rId9"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HYaiBAZl8.mp4" Type="http://schemas.openxmlformats.org/officeDocument/2006/relationships/video"/><Relationship Id="rId11" Target="../media/VAHYaiBAZl8.mp4" Type="http://schemas.microsoft.com/office/2007/relationships/media"/><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TextBox 2" id="2"/>
          <p:cNvSpPr txBox="true"/>
          <p:nvPr/>
        </p:nvSpPr>
        <p:spPr>
          <a:xfrm rot="0">
            <a:off x="2043871" y="4419451"/>
            <a:ext cx="14200257" cy="1556860"/>
          </a:xfrm>
          <a:prstGeom prst="rect">
            <a:avLst/>
          </a:prstGeom>
        </p:spPr>
        <p:txBody>
          <a:bodyPr anchor="t" rtlCol="false" tIns="0" lIns="0" bIns="0" rIns="0">
            <a:spAutoFit/>
          </a:bodyPr>
          <a:lstStyle/>
          <a:p>
            <a:pPr algn="ctr">
              <a:lnSpc>
                <a:spcPts val="11921"/>
              </a:lnSpc>
            </a:pPr>
            <a:r>
              <a:rPr lang="en-US" b="true" sz="10837">
                <a:solidFill>
                  <a:srgbClr val="FFFFFF"/>
                </a:solidFill>
                <a:latin typeface="Kollektif Bold"/>
                <a:ea typeface="Kollektif Bold"/>
                <a:cs typeface="Kollektif Bold"/>
                <a:sym typeface="Kollektif Bold"/>
              </a:rPr>
              <a:t>SAFEALERT</a:t>
            </a:r>
          </a:p>
        </p:txBody>
      </p:sp>
      <p:sp>
        <p:nvSpPr>
          <p:cNvPr name="Freeform 3" id="3"/>
          <p:cNvSpPr/>
          <p:nvPr/>
        </p:nvSpPr>
        <p:spPr>
          <a:xfrm flipH="false" flipV="false" rot="-5400000">
            <a:off x="13833159" y="4118825"/>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11978448" y="48817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2963613" y="5960567"/>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08902" y="959122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740984"/>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4"/>
            <a:stretch>
              <a:fillRect l="0" t="0" r="0" b="0"/>
            </a:stretch>
          </a:blipFill>
        </p:spPr>
      </p:sp>
      <p:sp>
        <p:nvSpPr>
          <p:cNvPr name="TextBox 8" id="8"/>
          <p:cNvSpPr txBox="true"/>
          <p:nvPr/>
        </p:nvSpPr>
        <p:spPr>
          <a:xfrm rot="0">
            <a:off x="4448892" y="3581697"/>
            <a:ext cx="9390215" cy="752029"/>
          </a:xfrm>
          <a:prstGeom prst="rect">
            <a:avLst/>
          </a:prstGeom>
        </p:spPr>
        <p:txBody>
          <a:bodyPr anchor="t" rtlCol="false" tIns="0" lIns="0" bIns="0" rIns="0">
            <a:spAutoFit/>
          </a:bodyPr>
          <a:lstStyle/>
          <a:p>
            <a:pPr algn="ctr">
              <a:lnSpc>
                <a:spcPts val="5736"/>
              </a:lnSpc>
            </a:pPr>
            <a:r>
              <a:rPr lang="en-US" b="true" sz="5214" spc="229">
                <a:solidFill>
                  <a:srgbClr val="FFFFFF"/>
                </a:solidFill>
                <a:latin typeface="Now Bold"/>
                <a:ea typeface="Now Bold"/>
                <a:cs typeface="Now Bold"/>
                <a:sym typeface="Now Bold"/>
              </a:rPr>
              <a:t>Proyecto APT</a:t>
            </a:r>
          </a:p>
        </p:txBody>
      </p:sp>
      <p:sp>
        <p:nvSpPr>
          <p:cNvPr name="TextBox 9" id="9"/>
          <p:cNvSpPr txBox="true"/>
          <p:nvPr/>
        </p:nvSpPr>
        <p:spPr>
          <a:xfrm rot="0">
            <a:off x="1128963" y="8267332"/>
            <a:ext cx="4545365" cy="1076960"/>
          </a:xfrm>
          <a:prstGeom prst="rect">
            <a:avLst/>
          </a:prstGeom>
        </p:spPr>
        <p:txBody>
          <a:bodyPr anchor="t" rtlCol="false" tIns="0" lIns="0" bIns="0" rIns="0">
            <a:spAutoFit/>
          </a:bodyPr>
          <a:lstStyle/>
          <a:p>
            <a:pPr algn="l">
              <a:lnSpc>
                <a:spcPts val="2859"/>
              </a:lnSpc>
            </a:pPr>
            <a:r>
              <a:rPr lang="en-US" sz="2199">
                <a:solidFill>
                  <a:srgbClr val="FFFFFF"/>
                </a:solidFill>
                <a:latin typeface="Open Sans"/>
                <a:ea typeface="Open Sans"/>
                <a:cs typeface="Open Sans"/>
                <a:sym typeface="Open Sans"/>
              </a:rPr>
              <a:t>Capstone</a:t>
            </a:r>
          </a:p>
          <a:p>
            <a:pPr algn="l">
              <a:lnSpc>
                <a:spcPts val="2859"/>
              </a:lnSpc>
            </a:pPr>
            <a:r>
              <a:rPr lang="en-US" sz="2199">
                <a:solidFill>
                  <a:srgbClr val="FFFFFF"/>
                </a:solidFill>
                <a:latin typeface="Open Sans"/>
                <a:ea typeface="Open Sans"/>
                <a:cs typeface="Open Sans"/>
                <a:sym typeface="Open Sans"/>
              </a:rPr>
              <a:t>Sección: 800D</a:t>
            </a:r>
          </a:p>
          <a:p>
            <a:pPr algn="l" marL="0" indent="0" lvl="0">
              <a:lnSpc>
                <a:spcPts val="2859"/>
              </a:lnSpc>
              <a:spcBef>
                <a:spcPct val="0"/>
              </a:spcBef>
            </a:pPr>
            <a:r>
              <a:rPr lang="en-US" sz="2199">
                <a:solidFill>
                  <a:srgbClr val="FFFFFF"/>
                </a:solidFill>
                <a:latin typeface="Open Sans"/>
                <a:ea typeface="Open Sans"/>
                <a:cs typeface="Open Sans"/>
                <a:sym typeface="Open Sans"/>
              </a:rPr>
              <a:t>Docente: Aldo Martinez</a:t>
            </a:r>
          </a:p>
        </p:txBody>
      </p:sp>
      <p:sp>
        <p:nvSpPr>
          <p:cNvPr name="TextBox 10" id="10"/>
          <p:cNvSpPr txBox="true"/>
          <p:nvPr/>
        </p:nvSpPr>
        <p:spPr>
          <a:xfrm rot="0">
            <a:off x="12339376" y="7430955"/>
            <a:ext cx="4756684" cy="362585"/>
          </a:xfrm>
          <a:prstGeom prst="rect">
            <a:avLst/>
          </a:prstGeom>
        </p:spPr>
        <p:txBody>
          <a:bodyPr anchor="t" rtlCol="false" tIns="0" lIns="0" bIns="0" rIns="0">
            <a:spAutoFit/>
          </a:bodyPr>
          <a:lstStyle/>
          <a:p>
            <a:pPr algn="r" marL="0" indent="0" lvl="0">
              <a:lnSpc>
                <a:spcPts val="2859"/>
              </a:lnSpc>
              <a:spcBef>
                <a:spcPct val="0"/>
              </a:spcBef>
            </a:pPr>
            <a:r>
              <a:rPr lang="en-US" b="true" sz="2199">
                <a:solidFill>
                  <a:srgbClr val="FFFFFF"/>
                </a:solidFill>
                <a:latin typeface="League Spartan"/>
                <a:ea typeface="League Spartan"/>
                <a:cs typeface="League Spartan"/>
                <a:sym typeface="League Spartan"/>
              </a:rPr>
              <a:t>Integrantes</a:t>
            </a:r>
          </a:p>
        </p:txBody>
      </p:sp>
      <p:sp>
        <p:nvSpPr>
          <p:cNvPr name="TextBox 11" id="11"/>
          <p:cNvSpPr txBox="true"/>
          <p:nvPr/>
        </p:nvSpPr>
        <p:spPr>
          <a:xfrm rot="0">
            <a:off x="12339376" y="7878097"/>
            <a:ext cx="4756684" cy="1800860"/>
          </a:xfrm>
          <a:prstGeom prst="rect">
            <a:avLst/>
          </a:prstGeom>
        </p:spPr>
        <p:txBody>
          <a:bodyPr anchor="t" rtlCol="false" tIns="0" lIns="0" bIns="0" rIns="0">
            <a:spAutoFit/>
          </a:bodyPr>
          <a:lstStyle/>
          <a:p>
            <a:pPr algn="r">
              <a:lnSpc>
                <a:spcPts val="2859"/>
              </a:lnSpc>
            </a:pPr>
            <a:r>
              <a:rPr lang="en-US" sz="2199">
                <a:solidFill>
                  <a:srgbClr val="FFFFFF"/>
                </a:solidFill>
                <a:latin typeface="Open Sans"/>
                <a:ea typeface="Open Sans"/>
                <a:cs typeface="Open Sans"/>
                <a:sym typeface="Open Sans"/>
              </a:rPr>
              <a:t>Ronald Bruno</a:t>
            </a:r>
          </a:p>
          <a:p>
            <a:pPr algn="r">
              <a:lnSpc>
                <a:spcPts val="2859"/>
              </a:lnSpc>
            </a:pPr>
            <a:r>
              <a:rPr lang="en-US" sz="2199">
                <a:solidFill>
                  <a:srgbClr val="FFFFFF"/>
                </a:solidFill>
                <a:latin typeface="Open Sans"/>
                <a:ea typeface="Open Sans"/>
                <a:cs typeface="Open Sans"/>
                <a:sym typeface="Open Sans"/>
              </a:rPr>
              <a:t>Tomás Pérez</a:t>
            </a:r>
          </a:p>
          <a:p>
            <a:pPr algn="r">
              <a:lnSpc>
                <a:spcPts val="2859"/>
              </a:lnSpc>
            </a:pPr>
            <a:r>
              <a:rPr lang="en-US" sz="2199">
                <a:solidFill>
                  <a:srgbClr val="FFFFFF"/>
                </a:solidFill>
                <a:latin typeface="Open Sans"/>
                <a:ea typeface="Open Sans"/>
                <a:cs typeface="Open Sans"/>
                <a:sym typeface="Open Sans"/>
              </a:rPr>
              <a:t>Bastián Trostel</a:t>
            </a:r>
          </a:p>
          <a:p>
            <a:pPr algn="r">
              <a:lnSpc>
                <a:spcPts val="2859"/>
              </a:lnSpc>
            </a:pPr>
            <a:r>
              <a:rPr lang="en-US" sz="2199">
                <a:solidFill>
                  <a:srgbClr val="FFFFFF"/>
                </a:solidFill>
                <a:latin typeface="Open Sans"/>
                <a:ea typeface="Open Sans"/>
                <a:cs typeface="Open Sans"/>
                <a:sym typeface="Open Sans"/>
              </a:rPr>
              <a:t>Cristofer Zapata</a:t>
            </a:r>
          </a:p>
          <a:p>
            <a:pPr algn="r" marL="0" indent="0" lvl="0">
              <a:lnSpc>
                <a:spcPts val="2859"/>
              </a:lnSpc>
              <a:spcBef>
                <a:spcPct val="0"/>
              </a:spcBef>
            </a:pPr>
          </a:p>
        </p:txBody>
      </p:sp>
      <p:sp>
        <p:nvSpPr>
          <p:cNvPr name="TextBox 12" id="12"/>
          <p:cNvSpPr txBox="true"/>
          <p:nvPr/>
        </p:nvSpPr>
        <p:spPr>
          <a:xfrm rot="0">
            <a:off x="4338200" y="6029252"/>
            <a:ext cx="9611599" cy="715010"/>
          </a:xfrm>
          <a:prstGeom prst="rect">
            <a:avLst/>
          </a:prstGeom>
        </p:spPr>
        <p:txBody>
          <a:bodyPr anchor="t" rtlCol="false" tIns="0" lIns="0" bIns="0" rIns="0">
            <a:spAutoFit/>
          </a:bodyPr>
          <a:lstStyle/>
          <a:p>
            <a:pPr algn="ctr" marL="0" indent="0" lvl="0">
              <a:lnSpc>
                <a:spcPts val="2859"/>
              </a:lnSpc>
              <a:spcBef>
                <a:spcPct val="0"/>
              </a:spcBef>
            </a:pPr>
            <a:r>
              <a:rPr lang="en-US" sz="2199">
                <a:solidFill>
                  <a:srgbClr val="FFFFFF"/>
                </a:solidFill>
                <a:latin typeface="Open Sans"/>
                <a:ea typeface="Open Sans"/>
                <a:cs typeface="Open Sans"/>
                <a:sym typeface="Open Sans"/>
              </a:rPr>
              <a:t>Sistema Móvil de Alerta Rápida para Prevención y Respuesta ante incidentes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508193" y="1250950"/>
            <a:ext cx="15264187" cy="7730827"/>
            <a:chOff x="0" y="0"/>
            <a:chExt cx="4177441" cy="2115742"/>
          </a:xfrm>
        </p:grpSpPr>
        <p:sp>
          <p:nvSpPr>
            <p:cNvPr name="Freeform 3" id="3"/>
            <p:cNvSpPr/>
            <p:nvPr/>
          </p:nvSpPr>
          <p:spPr>
            <a:xfrm flipH="false" flipV="false" rot="0">
              <a:off x="0" y="0"/>
              <a:ext cx="4177442" cy="2115742"/>
            </a:xfrm>
            <a:custGeom>
              <a:avLst/>
              <a:gdLst/>
              <a:ahLst/>
              <a:cxnLst/>
              <a:rect r="r" b="b" t="t" l="l"/>
              <a:pathLst>
                <a:path h="2115742" w="4177442">
                  <a:moveTo>
                    <a:pt x="0" y="0"/>
                  </a:moveTo>
                  <a:lnTo>
                    <a:pt x="4177442" y="0"/>
                  </a:lnTo>
                  <a:lnTo>
                    <a:pt x="4177442" y="2115742"/>
                  </a:lnTo>
                  <a:lnTo>
                    <a:pt x="0" y="2115742"/>
                  </a:lnTo>
                  <a:close/>
                </a:path>
              </a:pathLst>
            </a:custGeom>
            <a:solidFill>
              <a:srgbClr val="EFEEE9"/>
            </a:solidFill>
          </p:spPr>
        </p:sp>
        <p:sp>
          <p:nvSpPr>
            <p:cNvPr name="TextBox 4" id="4"/>
            <p:cNvSpPr txBox="true"/>
            <p:nvPr/>
          </p:nvSpPr>
          <p:spPr>
            <a:xfrm>
              <a:off x="0" y="-47625"/>
              <a:ext cx="4177441" cy="2163367"/>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419199" y="1574802"/>
            <a:ext cx="9454930" cy="1285875"/>
          </a:xfrm>
          <a:prstGeom prst="rect">
            <a:avLst/>
          </a:prstGeom>
        </p:spPr>
        <p:txBody>
          <a:bodyPr anchor="t" rtlCol="false" tIns="0" lIns="0" bIns="0" rIns="0">
            <a:spAutoFit/>
          </a:bodyPr>
          <a:lstStyle/>
          <a:p>
            <a:pPr algn="ctr">
              <a:lnSpc>
                <a:spcPts val="10079"/>
              </a:lnSpc>
            </a:pPr>
            <a:r>
              <a:rPr lang="en-US" b="true" sz="8399">
                <a:solidFill>
                  <a:srgbClr val="1E1E1E"/>
                </a:solidFill>
                <a:latin typeface="Raleway Bold"/>
                <a:ea typeface="Raleway Bold"/>
                <a:cs typeface="Raleway Bold"/>
                <a:sym typeface="Raleway Bold"/>
              </a:rPr>
              <a:t>ÍNDICE</a:t>
            </a:r>
          </a:p>
        </p:txBody>
      </p:sp>
      <p:sp>
        <p:nvSpPr>
          <p:cNvPr name="TextBox 6" id="6"/>
          <p:cNvSpPr txBox="true"/>
          <p:nvPr/>
        </p:nvSpPr>
        <p:spPr>
          <a:xfrm rot="0">
            <a:off x="3922355" y="3326946"/>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01</a:t>
            </a:r>
          </a:p>
        </p:txBody>
      </p:sp>
      <p:sp>
        <p:nvSpPr>
          <p:cNvPr name="TextBox 7" id="7"/>
          <p:cNvSpPr txBox="true"/>
          <p:nvPr/>
        </p:nvSpPr>
        <p:spPr>
          <a:xfrm rot="0">
            <a:off x="3922355" y="4147612"/>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02</a:t>
            </a:r>
          </a:p>
        </p:txBody>
      </p:sp>
      <p:sp>
        <p:nvSpPr>
          <p:cNvPr name="TextBox 8" id="8"/>
          <p:cNvSpPr txBox="true"/>
          <p:nvPr/>
        </p:nvSpPr>
        <p:spPr>
          <a:xfrm rot="0">
            <a:off x="3938120" y="4973110"/>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03</a:t>
            </a:r>
          </a:p>
        </p:txBody>
      </p:sp>
      <p:sp>
        <p:nvSpPr>
          <p:cNvPr name="TextBox 9" id="9"/>
          <p:cNvSpPr txBox="true"/>
          <p:nvPr/>
        </p:nvSpPr>
        <p:spPr>
          <a:xfrm rot="0">
            <a:off x="3922355" y="5882747"/>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04</a:t>
            </a:r>
          </a:p>
        </p:txBody>
      </p:sp>
      <p:sp>
        <p:nvSpPr>
          <p:cNvPr name="TextBox 10" id="10"/>
          <p:cNvSpPr txBox="true"/>
          <p:nvPr/>
        </p:nvSpPr>
        <p:spPr>
          <a:xfrm rot="0">
            <a:off x="5920634" y="3570947"/>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Introducción</a:t>
            </a:r>
          </a:p>
        </p:txBody>
      </p:sp>
      <p:sp>
        <p:nvSpPr>
          <p:cNvPr name="TextBox 11" id="11"/>
          <p:cNvSpPr txBox="true"/>
          <p:nvPr/>
        </p:nvSpPr>
        <p:spPr>
          <a:xfrm rot="0">
            <a:off x="5938849" y="4391613"/>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Avance</a:t>
            </a:r>
          </a:p>
        </p:txBody>
      </p:sp>
      <p:sp>
        <p:nvSpPr>
          <p:cNvPr name="TextBox 12" id="12"/>
          <p:cNvSpPr txBox="true"/>
          <p:nvPr/>
        </p:nvSpPr>
        <p:spPr>
          <a:xfrm rot="0">
            <a:off x="5938849" y="5211157"/>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Cambios</a:t>
            </a:r>
          </a:p>
        </p:txBody>
      </p:sp>
      <p:sp>
        <p:nvSpPr>
          <p:cNvPr name="TextBox 13" id="13"/>
          <p:cNvSpPr txBox="true"/>
          <p:nvPr/>
        </p:nvSpPr>
        <p:spPr>
          <a:xfrm rot="0">
            <a:off x="5904030" y="6126749"/>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Arquitectura</a:t>
            </a:r>
          </a:p>
        </p:txBody>
      </p:sp>
      <p:sp>
        <p:nvSpPr>
          <p:cNvPr name="Freeform 14" id="14"/>
          <p:cNvSpPr/>
          <p:nvPr/>
        </p:nvSpPr>
        <p:spPr>
          <a:xfrm flipH="false" flipV="false" rot="-5400000">
            <a:off x="13833159" y="4118825"/>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10800000">
            <a:off x="11978448" y="48817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5400000">
            <a:off x="-2963613" y="5960567"/>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08902" y="959122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4"/>
            <a:stretch>
              <a:fillRect l="0" t="0" r="0" b="0"/>
            </a:stretch>
          </a:blipFill>
        </p:spPr>
      </p:sp>
      <p:sp>
        <p:nvSpPr>
          <p:cNvPr name="TextBox 19" id="19"/>
          <p:cNvSpPr txBox="true"/>
          <p:nvPr/>
        </p:nvSpPr>
        <p:spPr>
          <a:xfrm rot="0">
            <a:off x="9280880" y="3326946"/>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05</a:t>
            </a:r>
          </a:p>
        </p:txBody>
      </p:sp>
      <p:sp>
        <p:nvSpPr>
          <p:cNvPr name="TextBox 20" id="20"/>
          <p:cNvSpPr txBox="true"/>
          <p:nvPr/>
        </p:nvSpPr>
        <p:spPr>
          <a:xfrm rot="0">
            <a:off x="9280880" y="4188665"/>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06</a:t>
            </a:r>
          </a:p>
        </p:txBody>
      </p:sp>
      <p:sp>
        <p:nvSpPr>
          <p:cNvPr name="TextBox 21" id="21"/>
          <p:cNvSpPr txBox="true"/>
          <p:nvPr/>
        </p:nvSpPr>
        <p:spPr>
          <a:xfrm rot="0">
            <a:off x="9704811" y="5050384"/>
            <a:ext cx="1268191"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07</a:t>
            </a:r>
          </a:p>
        </p:txBody>
      </p:sp>
      <p:sp>
        <p:nvSpPr>
          <p:cNvPr name="TextBox 22" id="22"/>
          <p:cNvSpPr txBox="true"/>
          <p:nvPr/>
        </p:nvSpPr>
        <p:spPr>
          <a:xfrm rot="0">
            <a:off x="11295696" y="3565071"/>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Evidencias</a:t>
            </a:r>
          </a:p>
        </p:txBody>
      </p:sp>
      <p:sp>
        <p:nvSpPr>
          <p:cNvPr name="TextBox 23" id="23"/>
          <p:cNvSpPr txBox="true"/>
          <p:nvPr/>
        </p:nvSpPr>
        <p:spPr>
          <a:xfrm rot="0">
            <a:off x="11270437" y="4360115"/>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Tareas por hacer</a:t>
            </a:r>
          </a:p>
        </p:txBody>
      </p:sp>
      <p:sp>
        <p:nvSpPr>
          <p:cNvPr name="TextBox 24" id="24"/>
          <p:cNvSpPr txBox="true"/>
          <p:nvPr/>
        </p:nvSpPr>
        <p:spPr>
          <a:xfrm rot="0">
            <a:off x="11272083" y="5150733"/>
            <a:ext cx="3030991" cy="73342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Lecciones aprendidas</a:t>
            </a:r>
          </a:p>
        </p:txBody>
      </p:sp>
      <p:sp>
        <p:nvSpPr>
          <p:cNvPr name="TextBox 25" id="25"/>
          <p:cNvSpPr txBox="true"/>
          <p:nvPr/>
        </p:nvSpPr>
        <p:spPr>
          <a:xfrm rot="0">
            <a:off x="9271355" y="6005266"/>
            <a:ext cx="1729066" cy="723900"/>
          </a:xfrm>
          <a:prstGeom prst="rect">
            <a:avLst/>
          </a:prstGeom>
        </p:spPr>
        <p:txBody>
          <a:bodyPr anchor="t" rtlCol="false" tIns="0" lIns="0" bIns="0" rIns="0">
            <a:spAutoFit/>
          </a:bodyPr>
          <a:lstStyle/>
          <a:p>
            <a:pPr algn="r">
              <a:lnSpc>
                <a:spcPts val="5759"/>
              </a:lnSpc>
            </a:pPr>
            <a:r>
              <a:rPr lang="en-US" b="true" sz="4800" spc="369">
                <a:solidFill>
                  <a:srgbClr val="1E1E1E"/>
                </a:solidFill>
                <a:latin typeface="Raleway Bold"/>
                <a:ea typeface="Raleway Bold"/>
                <a:cs typeface="Raleway Bold"/>
                <a:sym typeface="Raleway Bold"/>
              </a:rPr>
              <a:t>08</a:t>
            </a:r>
          </a:p>
        </p:txBody>
      </p:sp>
      <p:sp>
        <p:nvSpPr>
          <p:cNvPr name="TextBox 26" id="26"/>
          <p:cNvSpPr txBox="true"/>
          <p:nvPr/>
        </p:nvSpPr>
        <p:spPr>
          <a:xfrm rot="0">
            <a:off x="11295696" y="6176716"/>
            <a:ext cx="3046756" cy="371475"/>
          </a:xfrm>
          <a:prstGeom prst="rect">
            <a:avLst/>
          </a:prstGeom>
        </p:spPr>
        <p:txBody>
          <a:bodyPr anchor="t" rtlCol="false" tIns="0" lIns="0" bIns="0" rIns="0">
            <a:spAutoFit/>
          </a:bodyPr>
          <a:lstStyle/>
          <a:p>
            <a:pPr algn="l">
              <a:lnSpc>
                <a:spcPts val="2879"/>
              </a:lnSpc>
            </a:pPr>
            <a:r>
              <a:rPr lang="en-US" sz="2399" b="true">
                <a:solidFill>
                  <a:srgbClr val="1E1E1E"/>
                </a:solidFill>
                <a:latin typeface="Raleway Bold"/>
                <a:ea typeface="Raleway Bold"/>
                <a:cs typeface="Raleway Bold"/>
                <a:sym typeface="Raleway Bold"/>
              </a:rPr>
              <a:t>Conclusión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349443" y="1250950"/>
            <a:ext cx="15422937" cy="7730827"/>
            <a:chOff x="0" y="0"/>
            <a:chExt cx="4220887" cy="2115742"/>
          </a:xfrm>
        </p:grpSpPr>
        <p:sp>
          <p:nvSpPr>
            <p:cNvPr name="Freeform 3" id="3"/>
            <p:cNvSpPr/>
            <p:nvPr/>
          </p:nvSpPr>
          <p:spPr>
            <a:xfrm flipH="false" flipV="false" rot="0">
              <a:off x="0" y="0"/>
              <a:ext cx="4220887" cy="2115742"/>
            </a:xfrm>
            <a:custGeom>
              <a:avLst/>
              <a:gdLst/>
              <a:ahLst/>
              <a:cxnLst/>
              <a:rect r="r" b="b" t="t" l="l"/>
              <a:pathLst>
                <a:path h="2115742" w="4220887">
                  <a:moveTo>
                    <a:pt x="0" y="0"/>
                  </a:moveTo>
                  <a:lnTo>
                    <a:pt x="4220887" y="0"/>
                  </a:lnTo>
                  <a:lnTo>
                    <a:pt x="4220887" y="2115742"/>
                  </a:lnTo>
                  <a:lnTo>
                    <a:pt x="0" y="2115742"/>
                  </a:lnTo>
                  <a:close/>
                </a:path>
              </a:pathLst>
            </a:custGeom>
            <a:solidFill>
              <a:srgbClr val="EFEEE9"/>
            </a:solidFill>
          </p:spPr>
        </p:sp>
        <p:sp>
          <p:nvSpPr>
            <p:cNvPr name="TextBox 4" id="4"/>
            <p:cNvSpPr txBox="true"/>
            <p:nvPr/>
          </p:nvSpPr>
          <p:spPr>
            <a:xfrm>
              <a:off x="0" y="-38100"/>
              <a:ext cx="4220887" cy="215384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3833159" y="4118825"/>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1978448" y="48817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963613" y="5960567"/>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08902" y="959122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4"/>
            <a:stretch>
              <a:fillRect l="0" t="0" r="0" b="0"/>
            </a:stretch>
          </a:blipFill>
        </p:spPr>
      </p:sp>
      <p:sp>
        <p:nvSpPr>
          <p:cNvPr name="Freeform 10" id="10"/>
          <p:cNvSpPr/>
          <p:nvPr/>
        </p:nvSpPr>
        <p:spPr>
          <a:xfrm flipH="false" flipV="false" rot="0">
            <a:off x="15511725" y="7421091"/>
            <a:ext cx="1048632" cy="1361124"/>
          </a:xfrm>
          <a:custGeom>
            <a:avLst/>
            <a:gdLst/>
            <a:ahLst/>
            <a:cxnLst/>
            <a:rect r="r" b="b" t="t" l="l"/>
            <a:pathLst>
              <a:path h="1361124" w="1048632">
                <a:moveTo>
                  <a:pt x="0" y="0"/>
                </a:moveTo>
                <a:lnTo>
                  <a:pt x="1048632" y="0"/>
                </a:lnTo>
                <a:lnTo>
                  <a:pt x="1048632" y="1361125"/>
                </a:lnTo>
                <a:lnTo>
                  <a:pt x="0" y="13611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2255503" y="2264683"/>
            <a:ext cx="8118754" cy="1051487"/>
          </a:xfrm>
          <a:prstGeom prst="rect">
            <a:avLst/>
          </a:prstGeom>
        </p:spPr>
        <p:txBody>
          <a:bodyPr anchor="t" rtlCol="false" tIns="0" lIns="0" bIns="0" rIns="0">
            <a:spAutoFit/>
          </a:bodyPr>
          <a:lstStyle/>
          <a:p>
            <a:pPr algn="ctr">
              <a:lnSpc>
                <a:spcPts val="7815"/>
              </a:lnSpc>
            </a:pPr>
            <a:r>
              <a:rPr lang="en-US" sz="7974">
                <a:solidFill>
                  <a:srgbClr val="1E1E1E"/>
                </a:solidFill>
                <a:latin typeface="League Spartan"/>
                <a:ea typeface="League Spartan"/>
                <a:cs typeface="League Spartan"/>
                <a:sym typeface="League Spartan"/>
              </a:rPr>
              <a:t>Introducción</a:t>
            </a:r>
          </a:p>
        </p:txBody>
      </p:sp>
      <p:sp>
        <p:nvSpPr>
          <p:cNvPr name="TextBox 12" id="12"/>
          <p:cNvSpPr txBox="true"/>
          <p:nvPr/>
        </p:nvSpPr>
        <p:spPr>
          <a:xfrm rot="0">
            <a:off x="3342125" y="4501785"/>
            <a:ext cx="11603751" cy="3026359"/>
          </a:xfrm>
          <a:prstGeom prst="rect">
            <a:avLst/>
          </a:prstGeom>
        </p:spPr>
        <p:txBody>
          <a:bodyPr anchor="t" rtlCol="false" tIns="0" lIns="0" bIns="0" rIns="0">
            <a:spAutoFit/>
          </a:bodyPr>
          <a:lstStyle/>
          <a:p>
            <a:pPr algn="ctr">
              <a:lnSpc>
                <a:spcPts val="4059"/>
              </a:lnSpc>
            </a:pPr>
            <a:r>
              <a:rPr lang="en-US" sz="2899" spc="63">
                <a:solidFill>
                  <a:srgbClr val="000000"/>
                </a:solidFill>
                <a:latin typeface="Kollektif"/>
                <a:ea typeface="Kollektif"/>
                <a:cs typeface="Kollektif"/>
                <a:sym typeface="Kollektif"/>
              </a:rPr>
              <a:t>El proyecto busca lograr un método para actuar de manera rápida, ante situaciones de riesgo que atente contra la integridad de las personas como robos, asaltos, acoso en cualquier parte del país actuando como una aplicación de seguridad que dispare de distintas maneras una alerta que llegará a contactos registrados de emergencia y les notifique mediante mensajería la alerta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Freeform 2" id="2"/>
          <p:cNvSpPr/>
          <p:nvPr/>
        </p:nvSpPr>
        <p:spPr>
          <a:xfrm flipH="false" flipV="false" rot="-2213357">
            <a:off x="11925100" y="7143772"/>
            <a:ext cx="9456036" cy="4510386"/>
          </a:xfrm>
          <a:custGeom>
            <a:avLst/>
            <a:gdLst/>
            <a:ahLst/>
            <a:cxnLst/>
            <a:rect r="r" b="b" t="t" l="l"/>
            <a:pathLst>
              <a:path h="4510386" w="9456036">
                <a:moveTo>
                  <a:pt x="0" y="0"/>
                </a:moveTo>
                <a:lnTo>
                  <a:pt x="9456036" y="0"/>
                </a:lnTo>
                <a:lnTo>
                  <a:pt x="9456036" y="4510386"/>
                </a:lnTo>
                <a:lnTo>
                  <a:pt x="0" y="4510386"/>
                </a:lnTo>
                <a:lnTo>
                  <a:pt x="0" y="0"/>
                </a:lnTo>
                <a:close/>
              </a:path>
            </a:pathLst>
          </a:custGeom>
          <a:blipFill>
            <a:blip r:embed="rId2">
              <a:extLst>
                <a:ext uri="{96DAC541-7B7A-43D3-8B79-37D633B846F1}">
                  <asvg:svgBlip xmlns:asvg="http://schemas.microsoft.com/office/drawing/2016/SVG/main" r:embed="rId3"/>
                </a:ext>
              </a:extLst>
            </a:blip>
            <a:stretch>
              <a:fillRect l="-27503" t="0" r="-24139" b="0"/>
            </a:stretch>
          </a:blipFill>
        </p:spPr>
      </p:sp>
      <p:sp>
        <p:nvSpPr>
          <p:cNvPr name="Freeform 3" id="3"/>
          <p:cNvSpPr/>
          <p:nvPr/>
        </p:nvSpPr>
        <p:spPr>
          <a:xfrm flipH="false" flipV="false" rot="0">
            <a:off x="17192315" y="612415"/>
            <a:ext cx="559181" cy="296366"/>
          </a:xfrm>
          <a:custGeom>
            <a:avLst/>
            <a:gdLst/>
            <a:ahLst/>
            <a:cxnLst/>
            <a:rect r="r" b="b" t="t" l="l"/>
            <a:pathLst>
              <a:path h="296366" w="559181">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843309" y="1268486"/>
            <a:ext cx="6873872" cy="162473"/>
          </a:xfrm>
          <a:custGeom>
            <a:avLst/>
            <a:gdLst/>
            <a:ahLst/>
            <a:cxnLst/>
            <a:rect r="r" b="b" t="t" l="l"/>
            <a:pathLst>
              <a:path h="162473" w="6873872">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803216" y="2722986"/>
            <a:ext cx="14647497" cy="346214"/>
          </a:xfrm>
          <a:custGeom>
            <a:avLst/>
            <a:gdLst/>
            <a:ahLst/>
            <a:cxnLst/>
            <a:rect r="r" b="b" t="t" l="l"/>
            <a:pathLst>
              <a:path h="346214" w="14647497">
                <a:moveTo>
                  <a:pt x="0" y="0"/>
                </a:moveTo>
                <a:lnTo>
                  <a:pt x="14647497" y="0"/>
                </a:lnTo>
                <a:lnTo>
                  <a:pt x="14647497" y="346214"/>
                </a:lnTo>
                <a:lnTo>
                  <a:pt x="0" y="3462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8"/>
            <a:stretch>
              <a:fillRect l="0" t="0" r="0" b="0"/>
            </a:stretch>
          </a:blipFill>
        </p:spPr>
      </p:sp>
      <p:sp>
        <p:nvSpPr>
          <p:cNvPr name="TextBox 7" id="7"/>
          <p:cNvSpPr txBox="true"/>
          <p:nvPr/>
        </p:nvSpPr>
        <p:spPr>
          <a:xfrm rot="0">
            <a:off x="1028700" y="1592884"/>
            <a:ext cx="16230600" cy="1009650"/>
          </a:xfrm>
          <a:prstGeom prst="rect">
            <a:avLst/>
          </a:prstGeom>
        </p:spPr>
        <p:txBody>
          <a:bodyPr anchor="t" rtlCol="false" tIns="0" lIns="0" bIns="0" rIns="0">
            <a:spAutoFit/>
          </a:bodyPr>
          <a:lstStyle/>
          <a:p>
            <a:pPr algn="ctr" marL="0" indent="0" lvl="0">
              <a:lnSpc>
                <a:spcPts val="7920"/>
              </a:lnSpc>
              <a:spcBef>
                <a:spcPct val="0"/>
              </a:spcBef>
            </a:pPr>
            <a:r>
              <a:rPr lang="en-US" b="true" sz="6600">
                <a:solidFill>
                  <a:srgbClr val="FFFFFF"/>
                </a:solidFill>
                <a:latin typeface="Raleway Bold"/>
                <a:ea typeface="Raleway Bold"/>
                <a:cs typeface="Raleway Bold"/>
                <a:sym typeface="Raleway Bold"/>
              </a:rPr>
              <a:t>Avances</a:t>
            </a:r>
          </a:p>
        </p:txBody>
      </p:sp>
      <p:sp>
        <p:nvSpPr>
          <p:cNvPr name="TextBox 8" id="8"/>
          <p:cNvSpPr txBox="true"/>
          <p:nvPr/>
        </p:nvSpPr>
        <p:spPr>
          <a:xfrm rot="0">
            <a:off x="1028700" y="4352584"/>
            <a:ext cx="15280035" cy="42576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FFFFFF"/>
                </a:solidFill>
                <a:latin typeface="Now"/>
                <a:ea typeface="Now"/>
                <a:cs typeface="Now"/>
                <a:sym typeface="Now"/>
              </a:rPr>
              <a:t>Front-end completado con caracteristicas accesibles</a:t>
            </a:r>
          </a:p>
          <a:p>
            <a:pPr algn="l" marL="647702" indent="-323851" lvl="1">
              <a:lnSpc>
                <a:spcPts val="4200"/>
              </a:lnSpc>
              <a:buFont typeface="Arial"/>
              <a:buChar char="•"/>
            </a:pPr>
            <a:r>
              <a:rPr lang="en-US" sz="3000">
                <a:solidFill>
                  <a:srgbClr val="FFFFFF"/>
                </a:solidFill>
                <a:latin typeface="Now"/>
                <a:ea typeface="Now"/>
                <a:cs typeface="Now"/>
                <a:sym typeface="Now"/>
              </a:rPr>
              <a:t>Integraciones a base de datos estable</a:t>
            </a:r>
          </a:p>
          <a:p>
            <a:pPr algn="l" marL="647702" indent="-323851" lvl="1">
              <a:lnSpc>
                <a:spcPts val="4200"/>
              </a:lnSpc>
              <a:buFont typeface="Arial"/>
              <a:buChar char="•"/>
            </a:pPr>
            <a:r>
              <a:rPr lang="en-US" sz="3000">
                <a:solidFill>
                  <a:srgbClr val="FFFFFF"/>
                </a:solidFill>
                <a:latin typeface="Now"/>
                <a:ea typeface="Now"/>
                <a:cs typeface="Now"/>
                <a:sym typeface="Now"/>
              </a:rPr>
              <a:t>Aplicación funcionando en dispositivo móvil</a:t>
            </a:r>
          </a:p>
          <a:p>
            <a:pPr algn="l" marL="647702" indent="-323851" lvl="1">
              <a:lnSpc>
                <a:spcPts val="4200"/>
              </a:lnSpc>
              <a:buFont typeface="Arial"/>
              <a:buChar char="•"/>
            </a:pPr>
            <a:r>
              <a:rPr lang="en-US" sz="3000">
                <a:solidFill>
                  <a:srgbClr val="FFFFFF"/>
                </a:solidFill>
                <a:latin typeface="Now"/>
                <a:ea typeface="Now"/>
                <a:cs typeface="Now"/>
                <a:sym typeface="Now"/>
              </a:rPr>
              <a:t>Botón de emergencia en aplicación dispara alertas efectivas a base de datos</a:t>
            </a:r>
          </a:p>
          <a:p>
            <a:pPr algn="l" marL="647702" indent="-323851" lvl="1">
              <a:lnSpc>
                <a:spcPts val="4200"/>
              </a:lnSpc>
              <a:buFont typeface="Arial"/>
              <a:buChar char="•"/>
            </a:pPr>
            <a:r>
              <a:rPr lang="en-US" sz="3000">
                <a:solidFill>
                  <a:srgbClr val="FFFFFF"/>
                </a:solidFill>
                <a:latin typeface="Now"/>
                <a:ea typeface="Now"/>
                <a:cs typeface="Now"/>
                <a:sym typeface="Now"/>
              </a:rPr>
              <a:t>Alertas mandan también ubicación exacta</a:t>
            </a:r>
          </a:p>
          <a:p>
            <a:pPr algn="l" marL="647702" indent="-323851" lvl="1">
              <a:lnSpc>
                <a:spcPts val="4200"/>
              </a:lnSpc>
              <a:buFont typeface="Arial"/>
              <a:buChar char="•"/>
            </a:pPr>
            <a:r>
              <a:rPr lang="en-US" sz="3000">
                <a:solidFill>
                  <a:srgbClr val="FFFFFF"/>
                </a:solidFill>
                <a:latin typeface="Now"/>
                <a:ea typeface="Now"/>
                <a:cs typeface="Now"/>
                <a:sym typeface="Now"/>
              </a:rPr>
              <a:t>Alertas pueden ser activadas con el botón de volumen del celular</a:t>
            </a:r>
          </a:p>
          <a:p>
            <a:pPr algn="l" marL="647702" indent="-323851" lvl="1">
              <a:lnSpc>
                <a:spcPts val="4200"/>
              </a:lnSpc>
              <a:buFont typeface="Arial"/>
              <a:buChar char="•"/>
            </a:pPr>
            <a:r>
              <a:rPr lang="en-US" sz="3000">
                <a:solidFill>
                  <a:srgbClr val="FFFFFF"/>
                </a:solidFill>
                <a:latin typeface="Now"/>
                <a:ea typeface="Now"/>
                <a:cs typeface="Now"/>
                <a:sym typeface="Now"/>
              </a:rPr>
              <a:t>Capacidad para mandar alertas con movimientos bruscos</a:t>
            </a:r>
          </a:p>
          <a:p>
            <a:pPr algn="l" marL="647702" indent="-323851" lvl="1">
              <a:lnSpc>
                <a:spcPts val="4200"/>
              </a:lnSpc>
              <a:buFont typeface="Arial"/>
              <a:buChar char="•"/>
            </a:pPr>
            <a:r>
              <a:rPr lang="en-US" sz="3000">
                <a:solidFill>
                  <a:srgbClr val="FFFFFF"/>
                </a:solidFill>
                <a:latin typeface="Now"/>
                <a:ea typeface="Now"/>
                <a:cs typeface="Now"/>
                <a:sym typeface="Now"/>
              </a:rPr>
              <a:t>Funcionamiento correcto fuera de aplicación en tercer plano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Freeform 2" id="2"/>
          <p:cNvSpPr/>
          <p:nvPr/>
        </p:nvSpPr>
        <p:spPr>
          <a:xfrm flipH="false" flipV="false" rot="0">
            <a:off x="17192315" y="612415"/>
            <a:ext cx="559181" cy="296366"/>
          </a:xfrm>
          <a:custGeom>
            <a:avLst/>
            <a:gdLst/>
            <a:ahLst/>
            <a:cxnLst/>
            <a:rect r="r" b="b" t="t" l="l"/>
            <a:pathLst>
              <a:path h="296366" w="559181">
                <a:moveTo>
                  <a:pt x="0" y="0"/>
                </a:moveTo>
                <a:lnTo>
                  <a:pt x="559182" y="0"/>
                </a:lnTo>
                <a:lnTo>
                  <a:pt x="559182"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843309" y="1268486"/>
            <a:ext cx="6873872" cy="162473"/>
          </a:xfrm>
          <a:custGeom>
            <a:avLst/>
            <a:gdLst/>
            <a:ahLst/>
            <a:cxnLst/>
            <a:rect r="r" b="b" t="t" l="l"/>
            <a:pathLst>
              <a:path h="162473" w="6873872">
                <a:moveTo>
                  <a:pt x="0" y="0"/>
                </a:moveTo>
                <a:lnTo>
                  <a:pt x="6873873" y="0"/>
                </a:lnTo>
                <a:lnTo>
                  <a:pt x="6873873"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03216" y="2722986"/>
            <a:ext cx="14647497" cy="346214"/>
          </a:xfrm>
          <a:custGeom>
            <a:avLst/>
            <a:gdLst/>
            <a:ahLst/>
            <a:cxnLst/>
            <a:rect r="r" b="b" t="t" l="l"/>
            <a:pathLst>
              <a:path h="346214" w="14647497">
                <a:moveTo>
                  <a:pt x="0" y="0"/>
                </a:moveTo>
                <a:lnTo>
                  <a:pt x="14647497" y="0"/>
                </a:lnTo>
                <a:lnTo>
                  <a:pt x="14647497" y="346214"/>
                </a:lnTo>
                <a:lnTo>
                  <a:pt x="0" y="3462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6"/>
            <a:stretch>
              <a:fillRect l="0" t="0" r="0" b="0"/>
            </a:stretch>
          </a:blipFill>
        </p:spPr>
      </p:sp>
      <p:sp>
        <p:nvSpPr>
          <p:cNvPr name="TextBox 6" id="6"/>
          <p:cNvSpPr txBox="true"/>
          <p:nvPr/>
        </p:nvSpPr>
        <p:spPr>
          <a:xfrm rot="0">
            <a:off x="1028700" y="1592884"/>
            <a:ext cx="16230600" cy="1009650"/>
          </a:xfrm>
          <a:prstGeom prst="rect">
            <a:avLst/>
          </a:prstGeom>
        </p:spPr>
        <p:txBody>
          <a:bodyPr anchor="t" rtlCol="false" tIns="0" lIns="0" bIns="0" rIns="0">
            <a:spAutoFit/>
          </a:bodyPr>
          <a:lstStyle/>
          <a:p>
            <a:pPr algn="ctr" marL="0" indent="0" lvl="0">
              <a:lnSpc>
                <a:spcPts val="7920"/>
              </a:lnSpc>
              <a:spcBef>
                <a:spcPct val="0"/>
              </a:spcBef>
            </a:pPr>
            <a:r>
              <a:rPr lang="en-US" b="true" sz="6600">
                <a:solidFill>
                  <a:srgbClr val="FFFFFF"/>
                </a:solidFill>
                <a:latin typeface="Raleway Bold"/>
                <a:ea typeface="Raleway Bold"/>
                <a:cs typeface="Raleway Bold"/>
                <a:sym typeface="Raleway Bold"/>
              </a:rPr>
              <a:t>Cambios</a:t>
            </a:r>
          </a:p>
        </p:txBody>
      </p:sp>
      <p:sp>
        <p:nvSpPr>
          <p:cNvPr name="TextBox 7" id="7"/>
          <p:cNvSpPr txBox="true"/>
          <p:nvPr/>
        </p:nvSpPr>
        <p:spPr>
          <a:xfrm rot="0">
            <a:off x="1885213" y="3379220"/>
            <a:ext cx="3530054" cy="523875"/>
          </a:xfrm>
          <a:prstGeom prst="rect">
            <a:avLst/>
          </a:prstGeom>
        </p:spPr>
        <p:txBody>
          <a:bodyPr anchor="t" rtlCol="false" tIns="0" lIns="0" bIns="0" rIns="0">
            <a:spAutoFit/>
          </a:bodyPr>
          <a:lstStyle/>
          <a:p>
            <a:pPr algn="l">
              <a:lnSpc>
                <a:spcPts val="4200"/>
              </a:lnSpc>
            </a:pPr>
            <a:r>
              <a:rPr lang="en-US" sz="3000">
                <a:solidFill>
                  <a:srgbClr val="FFFFFF"/>
                </a:solidFill>
                <a:latin typeface="Now"/>
                <a:ea typeface="Now"/>
                <a:cs typeface="Now"/>
                <a:sym typeface="Now"/>
              </a:rPr>
              <a:t>Por desafíos como:</a:t>
            </a:r>
          </a:p>
        </p:txBody>
      </p:sp>
      <p:sp>
        <p:nvSpPr>
          <p:cNvPr name="TextBox 8" id="8"/>
          <p:cNvSpPr txBox="true"/>
          <p:nvPr/>
        </p:nvSpPr>
        <p:spPr>
          <a:xfrm rot="0">
            <a:off x="2499946" y="7692553"/>
            <a:ext cx="13194506" cy="10572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FFFFFF"/>
                </a:solidFill>
                <a:latin typeface="Now"/>
                <a:ea typeface="Now"/>
                <a:cs typeface="Now"/>
                <a:sym typeface="Now"/>
              </a:rPr>
              <a:t>Se optó por cambiar la base de datos de MySQL a Neon database</a:t>
            </a:r>
          </a:p>
          <a:p>
            <a:pPr algn="l" marL="647702" indent="-323851" lvl="1">
              <a:lnSpc>
                <a:spcPts val="4200"/>
              </a:lnSpc>
              <a:buFont typeface="Arial"/>
              <a:buChar char="•"/>
            </a:pPr>
            <a:r>
              <a:rPr lang="en-US" sz="3000">
                <a:solidFill>
                  <a:srgbClr val="FFFFFF"/>
                </a:solidFill>
                <a:latin typeface="Now"/>
                <a:ea typeface="Now"/>
                <a:cs typeface="Now"/>
                <a:sym typeface="Now"/>
              </a:rPr>
              <a:t>La base de datos estará alojada en GCP</a:t>
            </a:r>
          </a:p>
        </p:txBody>
      </p:sp>
      <p:sp>
        <p:nvSpPr>
          <p:cNvPr name="TextBox 9" id="9"/>
          <p:cNvSpPr txBox="true"/>
          <p:nvPr/>
        </p:nvSpPr>
        <p:spPr>
          <a:xfrm rot="0">
            <a:off x="2499946" y="4465824"/>
            <a:ext cx="12781657" cy="10572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FFFFFF"/>
                </a:solidFill>
                <a:latin typeface="Now"/>
                <a:ea typeface="Now"/>
                <a:cs typeface="Now"/>
                <a:sym typeface="Now"/>
              </a:rPr>
              <a:t>Problemas con el alcance de la base de datos y su accesibilidad</a:t>
            </a:r>
          </a:p>
          <a:p>
            <a:pPr algn="l" marL="647702" indent="-323851" lvl="1">
              <a:lnSpc>
                <a:spcPts val="4200"/>
              </a:lnSpc>
              <a:buFont typeface="Arial"/>
              <a:buChar char="•"/>
            </a:pPr>
            <a:r>
              <a:rPr lang="en-US" sz="3000">
                <a:solidFill>
                  <a:srgbClr val="FFFFFF"/>
                </a:solidFill>
                <a:latin typeface="Now"/>
                <a:ea typeface="Now"/>
                <a:cs typeface="Now"/>
                <a:sym typeface="Now"/>
              </a:rPr>
              <a:t>Necesidad de que la aplicación funcione en todo momento</a:t>
            </a:r>
          </a:p>
        </p:txBody>
      </p:sp>
      <p:sp>
        <p:nvSpPr>
          <p:cNvPr name="TextBox 10" id="10"/>
          <p:cNvSpPr txBox="true"/>
          <p:nvPr/>
        </p:nvSpPr>
        <p:spPr>
          <a:xfrm rot="0">
            <a:off x="1885213" y="6455515"/>
            <a:ext cx="6712297" cy="523875"/>
          </a:xfrm>
          <a:prstGeom prst="rect">
            <a:avLst/>
          </a:prstGeom>
        </p:spPr>
        <p:txBody>
          <a:bodyPr anchor="t" rtlCol="false" tIns="0" lIns="0" bIns="0" rIns="0">
            <a:spAutoFit/>
          </a:bodyPr>
          <a:lstStyle/>
          <a:p>
            <a:pPr algn="l">
              <a:lnSpc>
                <a:spcPts val="4200"/>
              </a:lnSpc>
            </a:pPr>
            <a:r>
              <a:rPr lang="en-US" sz="3000">
                <a:solidFill>
                  <a:srgbClr val="FFFFFF"/>
                </a:solidFill>
                <a:latin typeface="Now"/>
                <a:ea typeface="Now"/>
                <a:cs typeface="Now"/>
                <a:sym typeface="Now"/>
              </a:rPr>
              <a:t>Se aplicarán los siguientes cambios: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Freeform 2" id="2"/>
          <p:cNvSpPr/>
          <p:nvPr/>
        </p:nvSpPr>
        <p:spPr>
          <a:xfrm flipH="false" flipV="false" rot="-2213357">
            <a:off x="11925100" y="7143772"/>
            <a:ext cx="9456036" cy="4510386"/>
          </a:xfrm>
          <a:custGeom>
            <a:avLst/>
            <a:gdLst/>
            <a:ahLst/>
            <a:cxnLst/>
            <a:rect r="r" b="b" t="t" l="l"/>
            <a:pathLst>
              <a:path h="4510386" w="9456036">
                <a:moveTo>
                  <a:pt x="0" y="0"/>
                </a:moveTo>
                <a:lnTo>
                  <a:pt x="9456036" y="0"/>
                </a:lnTo>
                <a:lnTo>
                  <a:pt x="9456036" y="4510386"/>
                </a:lnTo>
                <a:lnTo>
                  <a:pt x="0" y="4510386"/>
                </a:lnTo>
                <a:lnTo>
                  <a:pt x="0" y="0"/>
                </a:lnTo>
                <a:close/>
              </a:path>
            </a:pathLst>
          </a:custGeom>
          <a:blipFill>
            <a:blip r:embed="rId2">
              <a:extLst>
                <a:ext uri="{96DAC541-7B7A-43D3-8B79-37D633B846F1}">
                  <asvg:svgBlip xmlns:asvg="http://schemas.microsoft.com/office/drawing/2016/SVG/main" r:embed="rId3"/>
                </a:ext>
              </a:extLst>
            </a:blip>
            <a:stretch>
              <a:fillRect l="-27503" t="0" r="-24139" b="0"/>
            </a:stretch>
          </a:blipFill>
        </p:spPr>
      </p:sp>
      <p:sp>
        <p:nvSpPr>
          <p:cNvPr name="Freeform 3" id="3"/>
          <p:cNvSpPr/>
          <p:nvPr/>
        </p:nvSpPr>
        <p:spPr>
          <a:xfrm flipH="false" flipV="false" rot="0">
            <a:off x="17192315" y="612415"/>
            <a:ext cx="559181" cy="296366"/>
          </a:xfrm>
          <a:custGeom>
            <a:avLst/>
            <a:gdLst/>
            <a:ahLst/>
            <a:cxnLst/>
            <a:rect r="r" b="b" t="t" l="l"/>
            <a:pathLst>
              <a:path h="296366" w="559181">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843309" y="1268486"/>
            <a:ext cx="6873872" cy="162473"/>
          </a:xfrm>
          <a:custGeom>
            <a:avLst/>
            <a:gdLst/>
            <a:ahLst/>
            <a:cxnLst/>
            <a:rect r="r" b="b" t="t" l="l"/>
            <a:pathLst>
              <a:path h="162473" w="6873872">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803216" y="2722986"/>
            <a:ext cx="14647497" cy="346214"/>
          </a:xfrm>
          <a:custGeom>
            <a:avLst/>
            <a:gdLst/>
            <a:ahLst/>
            <a:cxnLst/>
            <a:rect r="r" b="b" t="t" l="l"/>
            <a:pathLst>
              <a:path h="346214" w="14647497">
                <a:moveTo>
                  <a:pt x="0" y="0"/>
                </a:moveTo>
                <a:lnTo>
                  <a:pt x="14647497" y="0"/>
                </a:lnTo>
                <a:lnTo>
                  <a:pt x="14647497" y="346214"/>
                </a:lnTo>
                <a:lnTo>
                  <a:pt x="0" y="3462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8"/>
            <a:stretch>
              <a:fillRect l="0" t="0" r="0" b="0"/>
            </a:stretch>
          </a:blipFill>
        </p:spPr>
      </p:sp>
      <p:sp>
        <p:nvSpPr>
          <p:cNvPr name="TextBox 7" id="7"/>
          <p:cNvSpPr txBox="true"/>
          <p:nvPr/>
        </p:nvSpPr>
        <p:spPr>
          <a:xfrm rot="0">
            <a:off x="1028700" y="1592884"/>
            <a:ext cx="16230600" cy="1009650"/>
          </a:xfrm>
          <a:prstGeom prst="rect">
            <a:avLst/>
          </a:prstGeom>
        </p:spPr>
        <p:txBody>
          <a:bodyPr anchor="t" rtlCol="false" tIns="0" lIns="0" bIns="0" rIns="0">
            <a:spAutoFit/>
          </a:bodyPr>
          <a:lstStyle/>
          <a:p>
            <a:pPr algn="ctr" marL="0" indent="0" lvl="0">
              <a:lnSpc>
                <a:spcPts val="7920"/>
              </a:lnSpc>
              <a:spcBef>
                <a:spcPct val="0"/>
              </a:spcBef>
            </a:pPr>
            <a:r>
              <a:rPr lang="en-US" b="true" sz="6600">
                <a:solidFill>
                  <a:srgbClr val="FFFFFF"/>
                </a:solidFill>
                <a:latin typeface="Raleway Bold"/>
                <a:ea typeface="Raleway Bold"/>
                <a:cs typeface="Raleway Bold"/>
                <a:sym typeface="Raleway Bold"/>
              </a:rPr>
              <a:t>Tareas por hacer</a:t>
            </a:r>
          </a:p>
        </p:txBody>
      </p:sp>
      <p:sp>
        <p:nvSpPr>
          <p:cNvPr name="TextBox 8" id="8"/>
          <p:cNvSpPr txBox="true"/>
          <p:nvPr/>
        </p:nvSpPr>
        <p:spPr>
          <a:xfrm rot="0">
            <a:off x="1028700" y="4352584"/>
            <a:ext cx="16017329" cy="2124075"/>
          </a:xfrm>
          <a:prstGeom prst="rect">
            <a:avLst/>
          </a:prstGeom>
        </p:spPr>
        <p:txBody>
          <a:bodyPr anchor="t" rtlCol="false" tIns="0" lIns="0" bIns="0" rIns="0">
            <a:spAutoFit/>
          </a:bodyPr>
          <a:lstStyle/>
          <a:p>
            <a:pPr algn="l" marL="647702" indent="-323851" lvl="1">
              <a:lnSpc>
                <a:spcPts val="4200"/>
              </a:lnSpc>
              <a:buFont typeface="Arial"/>
              <a:buChar char="•"/>
            </a:pPr>
            <a:r>
              <a:rPr lang="en-US" sz="3000">
                <a:solidFill>
                  <a:srgbClr val="FFFFFF"/>
                </a:solidFill>
                <a:latin typeface="Now"/>
                <a:ea typeface="Now"/>
                <a:cs typeface="Now"/>
                <a:sym typeface="Now"/>
              </a:rPr>
              <a:t>Integración de mensajería</a:t>
            </a:r>
          </a:p>
          <a:p>
            <a:pPr algn="l" marL="647702" indent="-323851" lvl="1">
              <a:lnSpc>
                <a:spcPts val="4200"/>
              </a:lnSpc>
              <a:buFont typeface="Arial"/>
              <a:buChar char="•"/>
            </a:pPr>
            <a:r>
              <a:rPr lang="en-US" sz="3000">
                <a:solidFill>
                  <a:srgbClr val="FFFFFF"/>
                </a:solidFill>
                <a:latin typeface="Now"/>
                <a:ea typeface="Now"/>
                <a:cs typeface="Now"/>
                <a:sym typeface="Now"/>
              </a:rPr>
              <a:t>Desarrollos de widget</a:t>
            </a:r>
          </a:p>
          <a:p>
            <a:pPr algn="l" marL="647702" indent="-323851" lvl="1">
              <a:lnSpc>
                <a:spcPts val="4200"/>
              </a:lnSpc>
              <a:buFont typeface="Arial"/>
              <a:buChar char="•"/>
            </a:pPr>
            <a:r>
              <a:rPr lang="en-US" sz="3000">
                <a:solidFill>
                  <a:srgbClr val="FFFFFF"/>
                </a:solidFill>
                <a:latin typeface="Now"/>
                <a:ea typeface="Now"/>
                <a:cs typeface="Now"/>
                <a:sym typeface="Now"/>
              </a:rPr>
              <a:t>Lecturas de hardware adicional (como lectura de batería y adjuntarlo al mensaje)</a:t>
            </a:r>
          </a:p>
          <a:p>
            <a:pPr algn="l" marL="647702" indent="-323851" lvl="1">
              <a:lnSpc>
                <a:spcPts val="4200"/>
              </a:lnSpc>
              <a:buFont typeface="Arial"/>
              <a:buChar char="•"/>
            </a:pPr>
            <a:r>
              <a:rPr lang="en-US" sz="3000">
                <a:solidFill>
                  <a:srgbClr val="FFFFFF"/>
                </a:solidFill>
                <a:latin typeface="Now"/>
                <a:ea typeface="Now"/>
                <a:cs typeface="Now"/>
                <a:sym typeface="Now"/>
              </a:rPr>
              <a:t>Documentación técnica final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Freeform 2" id="2"/>
          <p:cNvSpPr/>
          <p:nvPr/>
        </p:nvSpPr>
        <p:spPr>
          <a:xfrm flipH="false" flipV="false" rot="0">
            <a:off x="-592217" y="8293384"/>
            <a:ext cx="19837040" cy="9461966"/>
          </a:xfrm>
          <a:custGeom>
            <a:avLst/>
            <a:gdLst/>
            <a:ahLst/>
            <a:cxnLst/>
            <a:rect r="r" b="b" t="t" l="l"/>
            <a:pathLst>
              <a:path h="9461966" w="19837040">
                <a:moveTo>
                  <a:pt x="0" y="0"/>
                </a:moveTo>
                <a:lnTo>
                  <a:pt x="19837039" y="0"/>
                </a:lnTo>
                <a:lnTo>
                  <a:pt x="19837039" y="9461966"/>
                </a:lnTo>
                <a:lnTo>
                  <a:pt x="0" y="9461966"/>
                </a:lnTo>
                <a:lnTo>
                  <a:pt x="0" y="0"/>
                </a:lnTo>
                <a:close/>
              </a:path>
            </a:pathLst>
          </a:custGeom>
          <a:blipFill>
            <a:blip r:embed="rId2">
              <a:extLst>
                <a:ext uri="{96DAC541-7B7A-43D3-8B79-37D633B846F1}">
                  <asvg:svgBlip xmlns:asvg="http://schemas.microsoft.com/office/drawing/2016/SVG/main" r:embed="rId3"/>
                </a:ext>
              </a:extLst>
            </a:blip>
            <a:stretch>
              <a:fillRect l="-27503" t="0" r="-24139" b="0"/>
            </a:stretch>
          </a:blipFill>
        </p:spPr>
      </p:sp>
      <p:sp>
        <p:nvSpPr>
          <p:cNvPr name="Freeform 3" id="3"/>
          <p:cNvSpPr/>
          <p:nvPr/>
        </p:nvSpPr>
        <p:spPr>
          <a:xfrm flipH="false" flipV="false" rot="0">
            <a:off x="17192315" y="612415"/>
            <a:ext cx="559181" cy="296366"/>
          </a:xfrm>
          <a:custGeom>
            <a:avLst/>
            <a:gdLst/>
            <a:ahLst/>
            <a:cxnLst/>
            <a:rect r="r" b="b" t="t" l="l"/>
            <a:pathLst>
              <a:path h="296366" w="559181">
                <a:moveTo>
                  <a:pt x="0" y="0"/>
                </a:moveTo>
                <a:lnTo>
                  <a:pt x="559182" y="0"/>
                </a:lnTo>
                <a:lnTo>
                  <a:pt x="559182" y="296366"/>
                </a:lnTo>
                <a:lnTo>
                  <a:pt x="0" y="2963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843309" y="1268486"/>
            <a:ext cx="6873872" cy="162473"/>
          </a:xfrm>
          <a:custGeom>
            <a:avLst/>
            <a:gdLst/>
            <a:ahLst/>
            <a:cxnLst/>
            <a:rect r="r" b="b" t="t" l="l"/>
            <a:pathLst>
              <a:path h="162473" w="6873872">
                <a:moveTo>
                  <a:pt x="0" y="0"/>
                </a:moveTo>
                <a:lnTo>
                  <a:pt x="6873873" y="0"/>
                </a:lnTo>
                <a:lnTo>
                  <a:pt x="6873873" y="162473"/>
                </a:lnTo>
                <a:lnTo>
                  <a:pt x="0" y="1624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8"/>
            <a:stretch>
              <a:fillRect l="0" t="0" r="0" b="0"/>
            </a:stretch>
          </a:blipFill>
        </p:spPr>
      </p:sp>
      <p:sp>
        <p:nvSpPr>
          <p:cNvPr name="Freeform 6" id="6"/>
          <p:cNvSpPr/>
          <p:nvPr/>
        </p:nvSpPr>
        <p:spPr>
          <a:xfrm flipH="false" flipV="false" rot="0">
            <a:off x="2144135" y="1771156"/>
            <a:ext cx="14364334" cy="8322336"/>
          </a:xfrm>
          <a:custGeom>
            <a:avLst/>
            <a:gdLst/>
            <a:ahLst/>
            <a:cxnLst/>
            <a:rect r="r" b="b" t="t" l="l"/>
            <a:pathLst>
              <a:path h="8322336" w="14364334">
                <a:moveTo>
                  <a:pt x="0" y="0"/>
                </a:moveTo>
                <a:lnTo>
                  <a:pt x="14364335" y="0"/>
                </a:lnTo>
                <a:lnTo>
                  <a:pt x="14364335" y="8322336"/>
                </a:lnTo>
                <a:lnTo>
                  <a:pt x="0" y="8322336"/>
                </a:lnTo>
                <a:lnTo>
                  <a:pt x="0" y="0"/>
                </a:lnTo>
                <a:close/>
              </a:path>
            </a:pathLst>
          </a:custGeom>
          <a:blipFill>
            <a:blip r:embed="rId9"/>
            <a:stretch>
              <a:fillRect l="0" t="0" r="0" b="0"/>
            </a:stretch>
          </a:blipFill>
        </p:spPr>
      </p:sp>
      <p:sp>
        <p:nvSpPr>
          <p:cNvPr name="TextBox 7" id="7"/>
          <p:cNvSpPr txBox="true"/>
          <p:nvPr/>
        </p:nvSpPr>
        <p:spPr>
          <a:xfrm rot="0">
            <a:off x="5312545" y="590056"/>
            <a:ext cx="7662910" cy="1009650"/>
          </a:xfrm>
          <a:prstGeom prst="rect">
            <a:avLst/>
          </a:prstGeom>
        </p:spPr>
        <p:txBody>
          <a:bodyPr anchor="t" rtlCol="false" tIns="0" lIns="0" bIns="0" rIns="0">
            <a:spAutoFit/>
          </a:bodyPr>
          <a:lstStyle/>
          <a:p>
            <a:pPr algn="ctr" marL="0" indent="0" lvl="0">
              <a:lnSpc>
                <a:spcPts val="7920"/>
              </a:lnSpc>
              <a:spcBef>
                <a:spcPct val="0"/>
              </a:spcBef>
            </a:pPr>
            <a:r>
              <a:rPr lang="en-US" b="true" sz="6600">
                <a:solidFill>
                  <a:srgbClr val="FFFFFF"/>
                </a:solidFill>
                <a:latin typeface="Raleway Bold"/>
                <a:ea typeface="Raleway Bold"/>
                <a:cs typeface="Raleway Bold"/>
                <a:sym typeface="Raleway Bold"/>
              </a:rPr>
              <a:t>Arquitectura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sp>
        <p:nvSpPr>
          <p:cNvPr name="Freeform 2" id="2"/>
          <p:cNvSpPr/>
          <p:nvPr/>
        </p:nvSpPr>
        <p:spPr>
          <a:xfrm flipH="false" flipV="false" rot="0">
            <a:off x="-2843309" y="1268486"/>
            <a:ext cx="6873872" cy="162473"/>
          </a:xfrm>
          <a:custGeom>
            <a:avLst/>
            <a:gdLst/>
            <a:ahLst/>
            <a:cxnLst/>
            <a:rect r="r" b="b" t="t" l="l"/>
            <a:pathLst>
              <a:path h="162473" w="6873872">
                <a:moveTo>
                  <a:pt x="0" y="0"/>
                </a:moveTo>
                <a:lnTo>
                  <a:pt x="6873873" y="0"/>
                </a:lnTo>
                <a:lnTo>
                  <a:pt x="6873873" y="162473"/>
                </a:lnTo>
                <a:lnTo>
                  <a:pt x="0" y="1624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4"/>
            <a:stretch>
              <a:fillRect l="0" t="0" r="0" b="0"/>
            </a:stretch>
          </a:blipFill>
        </p:spPr>
      </p:sp>
      <p:sp>
        <p:nvSpPr>
          <p:cNvPr name="Freeform 4" id="4"/>
          <p:cNvSpPr/>
          <p:nvPr/>
        </p:nvSpPr>
        <p:spPr>
          <a:xfrm flipH="false" flipV="false" rot="3071710">
            <a:off x="13831431" y="-5908685"/>
            <a:ext cx="12084486" cy="10471825"/>
          </a:xfrm>
          <a:custGeom>
            <a:avLst/>
            <a:gdLst/>
            <a:ahLst/>
            <a:cxnLst/>
            <a:rect r="r" b="b" t="t" l="l"/>
            <a:pathLst>
              <a:path h="10471825" w="12084486">
                <a:moveTo>
                  <a:pt x="0" y="0"/>
                </a:moveTo>
                <a:lnTo>
                  <a:pt x="12084486" y="0"/>
                </a:lnTo>
                <a:lnTo>
                  <a:pt x="12084486" y="10471825"/>
                </a:lnTo>
                <a:lnTo>
                  <a:pt x="0" y="10471825"/>
                </a:lnTo>
                <a:lnTo>
                  <a:pt x="0" y="0"/>
                </a:lnTo>
                <a:close/>
              </a:path>
            </a:pathLst>
          </a:custGeom>
          <a:blipFill>
            <a:blip r:embed="rId5">
              <a:alphaModFix amt="43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7758248">
            <a:off x="-2100465" y="9396532"/>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758248">
            <a:off x="-3024415" y="9839307"/>
            <a:ext cx="7423782" cy="175471"/>
          </a:xfrm>
          <a:custGeom>
            <a:avLst/>
            <a:gdLst/>
            <a:ahLst/>
            <a:cxnLst/>
            <a:rect r="r" b="b" t="t" l="l"/>
            <a:pathLst>
              <a:path h="175471" w="7423782">
                <a:moveTo>
                  <a:pt x="0" y="0"/>
                </a:moveTo>
                <a:lnTo>
                  <a:pt x="7423782" y="0"/>
                </a:lnTo>
                <a:lnTo>
                  <a:pt x="7423782" y="175472"/>
                </a:lnTo>
                <a:lnTo>
                  <a:pt x="0" y="1754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pic>
        <p:nvPicPr>
          <p:cNvPr name="Picture 7" id="7">
            <a:hlinkClick action="ppaction://media"/>
          </p:cNvPr>
          <p:cNvPicPr>
            <a:picLocks noChangeAspect="true"/>
          </p:cNvPicPr>
          <p:nvPr>
            <a:videoFile r:link="rId10"/>
            <p:extLst>
              <p:ext uri="{DAA4B4D4-6D71-4841-9C94-3DE7FCFB9230}">
                <p14:media xmlns:p14="http://schemas.microsoft.com/office/powerpoint/2010/main" r:embed="rId11"/>
              </p:ext>
            </p:extLst>
          </p:nvPr>
        </p:nvPicPr>
        <p:blipFill>
          <a:blip r:embed="rId9"/>
          <a:srcRect l="0" t="0" r="0" b="0"/>
          <a:stretch>
            <a:fillRect/>
          </a:stretch>
        </p:blipFill>
        <p:spPr>
          <a:xfrm flipH="false" flipV="false" rot="0">
            <a:off x="9607610" y="1099644"/>
            <a:ext cx="4629150" cy="8229600"/>
          </a:xfrm>
          <a:prstGeom prst="rect">
            <a:avLst/>
          </a:prstGeom>
        </p:spPr>
      </p:pic>
      <p:sp>
        <p:nvSpPr>
          <p:cNvPr name="TextBox 8" id="8"/>
          <p:cNvSpPr txBox="true"/>
          <p:nvPr/>
        </p:nvSpPr>
        <p:spPr>
          <a:xfrm rot="0">
            <a:off x="829388" y="4633912"/>
            <a:ext cx="6620113" cy="1009650"/>
          </a:xfrm>
          <a:prstGeom prst="rect">
            <a:avLst/>
          </a:prstGeom>
        </p:spPr>
        <p:txBody>
          <a:bodyPr anchor="t" rtlCol="false" tIns="0" lIns="0" bIns="0" rIns="0">
            <a:spAutoFit/>
          </a:bodyPr>
          <a:lstStyle/>
          <a:p>
            <a:pPr algn="ctr" marL="0" indent="0" lvl="0">
              <a:lnSpc>
                <a:spcPts val="7920"/>
              </a:lnSpc>
              <a:spcBef>
                <a:spcPct val="0"/>
              </a:spcBef>
            </a:pPr>
            <a:r>
              <a:rPr lang="en-US" b="true" sz="6600">
                <a:solidFill>
                  <a:srgbClr val="FFFFFF"/>
                </a:solidFill>
                <a:latin typeface="Raleway Bold"/>
                <a:ea typeface="Raleway Bold"/>
                <a:cs typeface="Raleway Bold"/>
                <a:sym typeface="Raleway Bold"/>
              </a:rPr>
              <a:t>Evidencia</a:t>
            </a:r>
          </a:p>
        </p:txBody>
      </p:sp>
    </p:spTree>
  </p:cSld>
  <p:clrMapOvr>
    <a:masterClrMapping/>
  </p:clrMapOvr>
  <p:timing>
    <p:tnLst>
      <p:par>
        <p:cTn dur="indefinite" restart="never" nodeType="tmRoot">
          <p:childTnLst>
            <p:video>
              <p:cMediaNode vol="100000">
                <p:cTn fill="hold" display="false">
                  <p:stCondLst>
                    <p:cond delay="indefinite"/>
                  </p:stCondLst>
                </p:cTn>
                <p:tgtEl>
                  <p:spTgt spid="7"/>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349443" y="1250950"/>
            <a:ext cx="15422937" cy="7730827"/>
            <a:chOff x="0" y="0"/>
            <a:chExt cx="4220887" cy="2115742"/>
          </a:xfrm>
        </p:grpSpPr>
        <p:sp>
          <p:nvSpPr>
            <p:cNvPr name="Freeform 3" id="3"/>
            <p:cNvSpPr/>
            <p:nvPr/>
          </p:nvSpPr>
          <p:spPr>
            <a:xfrm flipH="false" flipV="false" rot="0">
              <a:off x="0" y="0"/>
              <a:ext cx="4220887" cy="2115742"/>
            </a:xfrm>
            <a:custGeom>
              <a:avLst/>
              <a:gdLst/>
              <a:ahLst/>
              <a:cxnLst/>
              <a:rect r="r" b="b" t="t" l="l"/>
              <a:pathLst>
                <a:path h="2115742" w="4220887">
                  <a:moveTo>
                    <a:pt x="0" y="0"/>
                  </a:moveTo>
                  <a:lnTo>
                    <a:pt x="4220887" y="0"/>
                  </a:lnTo>
                  <a:lnTo>
                    <a:pt x="4220887" y="2115742"/>
                  </a:lnTo>
                  <a:lnTo>
                    <a:pt x="0" y="2115742"/>
                  </a:lnTo>
                  <a:close/>
                </a:path>
              </a:pathLst>
            </a:custGeom>
            <a:solidFill>
              <a:srgbClr val="EFEEE9"/>
            </a:solidFill>
          </p:spPr>
        </p:sp>
        <p:sp>
          <p:nvSpPr>
            <p:cNvPr name="TextBox 4" id="4"/>
            <p:cNvSpPr txBox="true"/>
            <p:nvPr/>
          </p:nvSpPr>
          <p:spPr>
            <a:xfrm>
              <a:off x="0" y="-38100"/>
              <a:ext cx="4220887" cy="215384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3833159" y="4118825"/>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1978448" y="48817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963613" y="5960567"/>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08902" y="959122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4"/>
            <a:stretch>
              <a:fillRect l="0" t="0" r="0" b="0"/>
            </a:stretch>
          </a:blipFill>
        </p:spPr>
      </p:sp>
      <p:sp>
        <p:nvSpPr>
          <p:cNvPr name="Freeform 10" id="10"/>
          <p:cNvSpPr/>
          <p:nvPr/>
        </p:nvSpPr>
        <p:spPr>
          <a:xfrm flipH="false" flipV="false" rot="0">
            <a:off x="15511725" y="7421091"/>
            <a:ext cx="1048632" cy="1361124"/>
          </a:xfrm>
          <a:custGeom>
            <a:avLst/>
            <a:gdLst/>
            <a:ahLst/>
            <a:cxnLst/>
            <a:rect r="r" b="b" t="t" l="l"/>
            <a:pathLst>
              <a:path h="1361124" w="1048632">
                <a:moveTo>
                  <a:pt x="0" y="0"/>
                </a:moveTo>
                <a:lnTo>
                  <a:pt x="1048632" y="0"/>
                </a:lnTo>
                <a:lnTo>
                  <a:pt x="1048632" y="1361125"/>
                </a:lnTo>
                <a:lnTo>
                  <a:pt x="0" y="13611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5087287" y="2282380"/>
            <a:ext cx="8118754" cy="2042087"/>
          </a:xfrm>
          <a:prstGeom prst="rect">
            <a:avLst/>
          </a:prstGeom>
        </p:spPr>
        <p:txBody>
          <a:bodyPr anchor="t" rtlCol="false" tIns="0" lIns="0" bIns="0" rIns="0">
            <a:spAutoFit/>
          </a:bodyPr>
          <a:lstStyle/>
          <a:p>
            <a:pPr algn="ctr">
              <a:lnSpc>
                <a:spcPts val="7815"/>
              </a:lnSpc>
            </a:pPr>
            <a:r>
              <a:rPr lang="en-US" sz="7974">
                <a:solidFill>
                  <a:srgbClr val="1E1E1E"/>
                </a:solidFill>
                <a:latin typeface="League Spartan"/>
                <a:ea typeface="League Spartan"/>
                <a:cs typeface="League Spartan"/>
                <a:sym typeface="League Spartan"/>
              </a:rPr>
              <a:t>Lecciones aprendidas</a:t>
            </a:r>
          </a:p>
        </p:txBody>
      </p:sp>
      <p:sp>
        <p:nvSpPr>
          <p:cNvPr name="Freeform 12" id="12"/>
          <p:cNvSpPr/>
          <p:nvPr/>
        </p:nvSpPr>
        <p:spPr>
          <a:xfrm flipH="false" flipV="false" rot="0">
            <a:off x="2163503" y="1723742"/>
            <a:ext cx="1441496" cy="1498719"/>
          </a:xfrm>
          <a:custGeom>
            <a:avLst/>
            <a:gdLst/>
            <a:ahLst/>
            <a:cxnLst/>
            <a:rect r="r" b="b" t="t" l="l"/>
            <a:pathLst>
              <a:path h="1498719" w="1441496">
                <a:moveTo>
                  <a:pt x="0" y="0"/>
                </a:moveTo>
                <a:lnTo>
                  <a:pt x="1441496" y="0"/>
                </a:lnTo>
                <a:lnTo>
                  <a:pt x="1441496" y="1498720"/>
                </a:lnTo>
                <a:lnTo>
                  <a:pt x="0" y="14987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4315937" y="5407221"/>
            <a:ext cx="2911959" cy="915943"/>
          </a:xfrm>
          <a:custGeom>
            <a:avLst/>
            <a:gdLst/>
            <a:ahLst/>
            <a:cxnLst/>
            <a:rect r="r" b="b" t="t" l="l"/>
            <a:pathLst>
              <a:path h="915943" w="2911959">
                <a:moveTo>
                  <a:pt x="0" y="0"/>
                </a:moveTo>
                <a:lnTo>
                  <a:pt x="2911959" y="0"/>
                </a:lnTo>
                <a:lnTo>
                  <a:pt x="2911959" y="915943"/>
                </a:lnTo>
                <a:lnTo>
                  <a:pt x="0" y="9159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4651444" y="5481919"/>
            <a:ext cx="2240944" cy="757021"/>
          </a:xfrm>
          <a:prstGeom prst="rect">
            <a:avLst/>
          </a:prstGeom>
        </p:spPr>
        <p:txBody>
          <a:bodyPr anchor="t" rtlCol="false" tIns="0" lIns="0" bIns="0" rIns="0">
            <a:spAutoFit/>
          </a:bodyPr>
          <a:lstStyle/>
          <a:p>
            <a:pPr algn="ctr" marL="0" indent="0" lvl="0">
              <a:lnSpc>
                <a:spcPts val="1963"/>
              </a:lnSpc>
            </a:pPr>
            <a:r>
              <a:rPr lang="en-US" sz="1677" spc="11">
                <a:solidFill>
                  <a:srgbClr val="000000"/>
                </a:solidFill>
                <a:latin typeface="Raleway"/>
                <a:ea typeface="Raleway"/>
                <a:cs typeface="Raleway"/>
                <a:sym typeface="Raleway"/>
              </a:rPr>
              <a:t>Diseñar y generar soluciones de software</a:t>
            </a:r>
          </a:p>
        </p:txBody>
      </p:sp>
      <p:sp>
        <p:nvSpPr>
          <p:cNvPr name="Freeform 15" id="15"/>
          <p:cNvSpPr/>
          <p:nvPr/>
        </p:nvSpPr>
        <p:spPr>
          <a:xfrm flipH="false" flipV="false" rot="0">
            <a:off x="7690685" y="5407221"/>
            <a:ext cx="2911959" cy="915943"/>
          </a:xfrm>
          <a:custGeom>
            <a:avLst/>
            <a:gdLst/>
            <a:ahLst/>
            <a:cxnLst/>
            <a:rect r="r" b="b" t="t" l="l"/>
            <a:pathLst>
              <a:path h="915943" w="2911959">
                <a:moveTo>
                  <a:pt x="0" y="0"/>
                </a:moveTo>
                <a:lnTo>
                  <a:pt x="2911958" y="0"/>
                </a:lnTo>
                <a:lnTo>
                  <a:pt x="2911958" y="915943"/>
                </a:lnTo>
                <a:lnTo>
                  <a:pt x="0" y="9159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8069738" y="5605436"/>
            <a:ext cx="2240944" cy="509987"/>
          </a:xfrm>
          <a:prstGeom prst="rect">
            <a:avLst/>
          </a:prstGeom>
        </p:spPr>
        <p:txBody>
          <a:bodyPr anchor="t" rtlCol="false" tIns="0" lIns="0" bIns="0" rIns="0">
            <a:spAutoFit/>
          </a:bodyPr>
          <a:lstStyle/>
          <a:p>
            <a:pPr algn="ctr" marL="0" indent="0" lvl="0">
              <a:lnSpc>
                <a:spcPts val="1963"/>
              </a:lnSpc>
            </a:pPr>
            <a:r>
              <a:rPr lang="en-US" sz="1677" spc="11">
                <a:solidFill>
                  <a:srgbClr val="000000"/>
                </a:solidFill>
                <a:latin typeface="Raleway"/>
                <a:ea typeface="Raleway"/>
                <a:cs typeface="Raleway"/>
                <a:sym typeface="Raleway"/>
              </a:rPr>
              <a:t>Arquitectura de Software</a:t>
            </a:r>
          </a:p>
        </p:txBody>
      </p:sp>
      <p:sp>
        <p:nvSpPr>
          <p:cNvPr name="Freeform 17" id="17"/>
          <p:cNvSpPr/>
          <p:nvPr/>
        </p:nvSpPr>
        <p:spPr>
          <a:xfrm flipH="false" flipV="false" rot="0">
            <a:off x="11065433" y="5407221"/>
            <a:ext cx="2911959" cy="915943"/>
          </a:xfrm>
          <a:custGeom>
            <a:avLst/>
            <a:gdLst/>
            <a:ahLst/>
            <a:cxnLst/>
            <a:rect r="r" b="b" t="t" l="l"/>
            <a:pathLst>
              <a:path h="915943" w="2911959">
                <a:moveTo>
                  <a:pt x="0" y="0"/>
                </a:moveTo>
                <a:lnTo>
                  <a:pt x="2911958" y="0"/>
                </a:lnTo>
                <a:lnTo>
                  <a:pt x="2911958" y="915943"/>
                </a:lnTo>
                <a:lnTo>
                  <a:pt x="0" y="9159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1400940" y="5689086"/>
            <a:ext cx="2240944" cy="262952"/>
          </a:xfrm>
          <a:prstGeom prst="rect">
            <a:avLst/>
          </a:prstGeom>
        </p:spPr>
        <p:txBody>
          <a:bodyPr anchor="t" rtlCol="false" tIns="0" lIns="0" bIns="0" rIns="0">
            <a:spAutoFit/>
          </a:bodyPr>
          <a:lstStyle/>
          <a:p>
            <a:pPr algn="ctr" marL="0" indent="0" lvl="0">
              <a:lnSpc>
                <a:spcPts val="1963"/>
              </a:lnSpc>
            </a:pPr>
            <a:r>
              <a:rPr lang="en-US" sz="1677" spc="11">
                <a:solidFill>
                  <a:srgbClr val="000000"/>
                </a:solidFill>
                <a:latin typeface="Raleway"/>
                <a:ea typeface="Raleway"/>
                <a:cs typeface="Raleway"/>
                <a:sym typeface="Raleway"/>
              </a:rPr>
              <a:t>Gestión de proyectos</a:t>
            </a:r>
          </a:p>
        </p:txBody>
      </p:sp>
      <p:sp>
        <p:nvSpPr>
          <p:cNvPr name="Freeform 19" id="19"/>
          <p:cNvSpPr/>
          <p:nvPr/>
        </p:nvSpPr>
        <p:spPr>
          <a:xfrm flipH="false" flipV="false" rot="0">
            <a:off x="5815462" y="7002509"/>
            <a:ext cx="2911959" cy="915943"/>
          </a:xfrm>
          <a:custGeom>
            <a:avLst/>
            <a:gdLst/>
            <a:ahLst/>
            <a:cxnLst/>
            <a:rect r="r" b="b" t="t" l="l"/>
            <a:pathLst>
              <a:path h="915943" w="2911959">
                <a:moveTo>
                  <a:pt x="0" y="0"/>
                </a:moveTo>
                <a:lnTo>
                  <a:pt x="2911959" y="0"/>
                </a:lnTo>
                <a:lnTo>
                  <a:pt x="2911959" y="915943"/>
                </a:lnTo>
                <a:lnTo>
                  <a:pt x="0" y="9159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6150970" y="7200724"/>
            <a:ext cx="2240944" cy="509987"/>
          </a:xfrm>
          <a:prstGeom prst="rect">
            <a:avLst/>
          </a:prstGeom>
        </p:spPr>
        <p:txBody>
          <a:bodyPr anchor="t" rtlCol="false" tIns="0" lIns="0" bIns="0" rIns="0">
            <a:spAutoFit/>
          </a:bodyPr>
          <a:lstStyle/>
          <a:p>
            <a:pPr algn="ctr" marL="0" indent="0" lvl="0">
              <a:lnSpc>
                <a:spcPts val="1963"/>
              </a:lnSpc>
            </a:pPr>
            <a:r>
              <a:rPr lang="en-US" sz="1677" spc="11">
                <a:solidFill>
                  <a:srgbClr val="000000"/>
                </a:solidFill>
                <a:latin typeface="Raleway"/>
                <a:ea typeface="Raleway"/>
                <a:cs typeface="Raleway"/>
                <a:sym typeface="Raleway"/>
              </a:rPr>
              <a:t>Integración de plataformas</a:t>
            </a:r>
          </a:p>
        </p:txBody>
      </p:sp>
      <p:sp>
        <p:nvSpPr>
          <p:cNvPr name="Freeform 21" id="21"/>
          <p:cNvSpPr/>
          <p:nvPr/>
        </p:nvSpPr>
        <p:spPr>
          <a:xfrm flipH="false" flipV="false" rot="0">
            <a:off x="9653000" y="7002509"/>
            <a:ext cx="2911959" cy="915943"/>
          </a:xfrm>
          <a:custGeom>
            <a:avLst/>
            <a:gdLst/>
            <a:ahLst/>
            <a:cxnLst/>
            <a:rect r="r" b="b" t="t" l="l"/>
            <a:pathLst>
              <a:path h="915943" w="2911959">
                <a:moveTo>
                  <a:pt x="0" y="0"/>
                </a:moveTo>
                <a:lnTo>
                  <a:pt x="2911958" y="0"/>
                </a:lnTo>
                <a:lnTo>
                  <a:pt x="2911958" y="915943"/>
                </a:lnTo>
                <a:lnTo>
                  <a:pt x="0" y="9159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2" id="22"/>
          <p:cNvSpPr txBox="true"/>
          <p:nvPr/>
        </p:nvSpPr>
        <p:spPr>
          <a:xfrm rot="0">
            <a:off x="9988507" y="7271798"/>
            <a:ext cx="2240944" cy="262952"/>
          </a:xfrm>
          <a:prstGeom prst="rect">
            <a:avLst/>
          </a:prstGeom>
        </p:spPr>
        <p:txBody>
          <a:bodyPr anchor="t" rtlCol="false" tIns="0" lIns="0" bIns="0" rIns="0">
            <a:spAutoFit/>
          </a:bodyPr>
          <a:lstStyle/>
          <a:p>
            <a:pPr algn="ctr" marL="0" indent="0" lvl="0">
              <a:lnSpc>
                <a:spcPts val="1963"/>
              </a:lnSpc>
            </a:pPr>
            <a:r>
              <a:rPr lang="en-US" sz="1677" spc="11">
                <a:solidFill>
                  <a:srgbClr val="000000"/>
                </a:solidFill>
                <a:latin typeface="Raleway"/>
                <a:ea typeface="Raleway"/>
                <a:cs typeface="Raleway"/>
                <a:sym typeface="Raleway"/>
              </a:rPr>
              <a:t>Calidad y Testing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1E1E"/>
        </a:solidFill>
      </p:bgPr>
    </p:bg>
    <p:spTree>
      <p:nvGrpSpPr>
        <p:cNvPr id="1" name=""/>
        <p:cNvGrpSpPr/>
        <p:nvPr/>
      </p:nvGrpSpPr>
      <p:grpSpPr>
        <a:xfrm>
          <a:off x="0" y="0"/>
          <a:ext cx="0" cy="0"/>
          <a:chOff x="0" y="0"/>
          <a:chExt cx="0" cy="0"/>
        </a:xfrm>
      </p:grpSpPr>
      <p:grpSp>
        <p:nvGrpSpPr>
          <p:cNvPr name="Group 2" id="2"/>
          <p:cNvGrpSpPr/>
          <p:nvPr/>
        </p:nvGrpSpPr>
        <p:grpSpPr>
          <a:xfrm rot="0">
            <a:off x="1300033" y="1202727"/>
            <a:ext cx="15422937" cy="7730827"/>
            <a:chOff x="0" y="0"/>
            <a:chExt cx="4220887" cy="2115742"/>
          </a:xfrm>
        </p:grpSpPr>
        <p:sp>
          <p:nvSpPr>
            <p:cNvPr name="Freeform 3" id="3"/>
            <p:cNvSpPr/>
            <p:nvPr/>
          </p:nvSpPr>
          <p:spPr>
            <a:xfrm flipH="false" flipV="false" rot="0">
              <a:off x="0" y="0"/>
              <a:ext cx="4220887" cy="2115742"/>
            </a:xfrm>
            <a:custGeom>
              <a:avLst/>
              <a:gdLst/>
              <a:ahLst/>
              <a:cxnLst/>
              <a:rect r="r" b="b" t="t" l="l"/>
              <a:pathLst>
                <a:path h="2115742" w="4220887">
                  <a:moveTo>
                    <a:pt x="0" y="0"/>
                  </a:moveTo>
                  <a:lnTo>
                    <a:pt x="4220887" y="0"/>
                  </a:lnTo>
                  <a:lnTo>
                    <a:pt x="4220887" y="2115742"/>
                  </a:lnTo>
                  <a:lnTo>
                    <a:pt x="0" y="2115742"/>
                  </a:lnTo>
                  <a:close/>
                </a:path>
              </a:pathLst>
            </a:custGeom>
            <a:solidFill>
              <a:srgbClr val="EFEEE9"/>
            </a:solidFill>
          </p:spPr>
        </p:sp>
        <p:sp>
          <p:nvSpPr>
            <p:cNvPr name="TextBox 4" id="4"/>
            <p:cNvSpPr txBox="true"/>
            <p:nvPr/>
          </p:nvSpPr>
          <p:spPr>
            <a:xfrm>
              <a:off x="0" y="-38100"/>
              <a:ext cx="4220887" cy="215384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3833159" y="4118825"/>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1978448" y="48817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2963613" y="5960567"/>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08902" y="9591221"/>
            <a:ext cx="7423782" cy="175471"/>
          </a:xfrm>
          <a:custGeom>
            <a:avLst/>
            <a:gdLst/>
            <a:ahLst/>
            <a:cxnLst/>
            <a:rect r="r" b="b" t="t" l="l"/>
            <a:pathLst>
              <a:path h="175471" w="7423782">
                <a:moveTo>
                  <a:pt x="0" y="0"/>
                </a:moveTo>
                <a:lnTo>
                  <a:pt x="7423782" y="0"/>
                </a:lnTo>
                <a:lnTo>
                  <a:pt x="7423782" y="175471"/>
                </a:lnTo>
                <a:lnTo>
                  <a:pt x="0" y="175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19928" y="1719382"/>
            <a:ext cx="9832863" cy="1462659"/>
          </a:xfrm>
          <a:prstGeom prst="rect">
            <a:avLst/>
          </a:prstGeom>
        </p:spPr>
        <p:txBody>
          <a:bodyPr anchor="t" rtlCol="false" tIns="0" lIns="0" bIns="0" rIns="0">
            <a:spAutoFit/>
          </a:bodyPr>
          <a:lstStyle/>
          <a:p>
            <a:pPr algn="ctr">
              <a:lnSpc>
                <a:spcPts val="10878"/>
              </a:lnSpc>
            </a:pPr>
            <a:r>
              <a:rPr lang="en-US" b="true" sz="11100">
                <a:solidFill>
                  <a:srgbClr val="1E1E1E"/>
                </a:solidFill>
                <a:latin typeface="Kollektif Bold"/>
                <a:ea typeface="Kollektif Bold"/>
                <a:cs typeface="Kollektif Bold"/>
                <a:sym typeface="Kollektif Bold"/>
              </a:rPr>
              <a:t>CONCLUSIÓN</a:t>
            </a:r>
          </a:p>
        </p:txBody>
      </p:sp>
      <p:sp>
        <p:nvSpPr>
          <p:cNvPr name="Freeform 10" id="10"/>
          <p:cNvSpPr/>
          <p:nvPr/>
        </p:nvSpPr>
        <p:spPr>
          <a:xfrm flipH="false" flipV="false" rot="0">
            <a:off x="3679209" y="3463639"/>
            <a:ext cx="1347074" cy="1347074"/>
          </a:xfrm>
          <a:custGeom>
            <a:avLst/>
            <a:gdLst/>
            <a:ahLst/>
            <a:cxnLst/>
            <a:rect r="r" b="b" t="t" l="l"/>
            <a:pathLst>
              <a:path h="1347074" w="1347074">
                <a:moveTo>
                  <a:pt x="0" y="0"/>
                </a:moveTo>
                <a:lnTo>
                  <a:pt x="1347074" y="0"/>
                </a:lnTo>
                <a:lnTo>
                  <a:pt x="1347074" y="1347074"/>
                </a:lnTo>
                <a:lnTo>
                  <a:pt x="0" y="1347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8507360" y="3611771"/>
            <a:ext cx="8051665" cy="1425812"/>
          </a:xfrm>
          <a:prstGeom prst="rect">
            <a:avLst/>
          </a:prstGeom>
        </p:spPr>
        <p:txBody>
          <a:bodyPr anchor="t" rtlCol="false" tIns="0" lIns="0" bIns="0" rIns="0">
            <a:spAutoFit/>
          </a:bodyPr>
          <a:lstStyle/>
          <a:p>
            <a:pPr algn="l">
              <a:lnSpc>
                <a:spcPts val="2816"/>
              </a:lnSpc>
            </a:pPr>
            <a:r>
              <a:rPr lang="en-US" sz="2011" spc="44">
                <a:solidFill>
                  <a:srgbClr val="000000"/>
                </a:solidFill>
                <a:latin typeface="Kollektif"/>
                <a:ea typeface="Kollektif"/>
                <a:cs typeface="Kollektif"/>
                <a:sym typeface="Kollektif"/>
              </a:rPr>
              <a:t>Se implementó con éxito la base de datos local (red de apoyo) y la integración del hardware nativo del dispositivo</a:t>
            </a:r>
          </a:p>
          <a:p>
            <a:pPr algn="l">
              <a:lnSpc>
                <a:spcPts val="2816"/>
              </a:lnSpc>
            </a:pPr>
          </a:p>
          <a:p>
            <a:pPr algn="l">
              <a:lnSpc>
                <a:spcPts val="2816"/>
              </a:lnSpc>
            </a:pPr>
          </a:p>
        </p:txBody>
      </p:sp>
      <p:sp>
        <p:nvSpPr>
          <p:cNvPr name="Freeform 12" id="12"/>
          <p:cNvSpPr/>
          <p:nvPr/>
        </p:nvSpPr>
        <p:spPr>
          <a:xfrm flipH="false" flipV="false" rot="0">
            <a:off x="3679209" y="6784663"/>
            <a:ext cx="1441496" cy="1498719"/>
          </a:xfrm>
          <a:custGeom>
            <a:avLst/>
            <a:gdLst/>
            <a:ahLst/>
            <a:cxnLst/>
            <a:rect r="r" b="b" t="t" l="l"/>
            <a:pathLst>
              <a:path h="1498719" w="1441496">
                <a:moveTo>
                  <a:pt x="0" y="0"/>
                </a:moveTo>
                <a:lnTo>
                  <a:pt x="1441495" y="0"/>
                </a:lnTo>
                <a:lnTo>
                  <a:pt x="1441495" y="1498720"/>
                </a:lnTo>
                <a:lnTo>
                  <a:pt x="0" y="14987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954502" y="5265802"/>
            <a:ext cx="8370564" cy="746972"/>
          </a:xfrm>
          <a:prstGeom prst="rect">
            <a:avLst/>
          </a:prstGeom>
        </p:spPr>
        <p:txBody>
          <a:bodyPr anchor="t" rtlCol="false" tIns="0" lIns="0" bIns="0" rIns="0">
            <a:spAutoFit/>
          </a:bodyPr>
          <a:lstStyle/>
          <a:p>
            <a:pPr algn="l">
              <a:lnSpc>
                <a:spcPts val="2928"/>
              </a:lnSpc>
            </a:pPr>
            <a:r>
              <a:rPr lang="en-US" sz="2091" spc="46">
                <a:solidFill>
                  <a:srgbClr val="000000"/>
                </a:solidFill>
                <a:latin typeface="Kollektif"/>
                <a:ea typeface="Kollektif"/>
                <a:cs typeface="Kollektif"/>
                <a:sym typeface="Kollektif"/>
              </a:rPr>
              <a:t>Propuesta de Valor Validada: El sistema ya detecta situaciones de riesgo y captura las coordenadas exactas localmente.</a:t>
            </a:r>
          </a:p>
        </p:txBody>
      </p:sp>
      <p:sp>
        <p:nvSpPr>
          <p:cNvPr name="Freeform 14" id="14"/>
          <p:cNvSpPr/>
          <p:nvPr/>
        </p:nvSpPr>
        <p:spPr>
          <a:xfrm flipH="false" flipV="false" rot="0">
            <a:off x="14366546" y="5143500"/>
            <a:ext cx="1048632" cy="1361124"/>
          </a:xfrm>
          <a:custGeom>
            <a:avLst/>
            <a:gdLst/>
            <a:ahLst/>
            <a:cxnLst/>
            <a:rect r="r" b="b" t="t" l="l"/>
            <a:pathLst>
              <a:path h="1361124" w="1048632">
                <a:moveTo>
                  <a:pt x="0" y="0"/>
                </a:moveTo>
                <a:lnTo>
                  <a:pt x="1048632" y="0"/>
                </a:lnTo>
                <a:lnTo>
                  <a:pt x="1048632" y="1361124"/>
                </a:lnTo>
                <a:lnTo>
                  <a:pt x="0" y="13611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593628" y="421552"/>
            <a:ext cx="2755422" cy="678092"/>
          </a:xfrm>
          <a:custGeom>
            <a:avLst/>
            <a:gdLst/>
            <a:ahLst/>
            <a:cxnLst/>
            <a:rect r="r" b="b" t="t" l="l"/>
            <a:pathLst>
              <a:path h="678092" w="2755422">
                <a:moveTo>
                  <a:pt x="0" y="0"/>
                </a:moveTo>
                <a:lnTo>
                  <a:pt x="2755422" y="0"/>
                </a:lnTo>
                <a:lnTo>
                  <a:pt x="2755422" y="678092"/>
                </a:lnTo>
                <a:lnTo>
                  <a:pt x="0" y="678092"/>
                </a:lnTo>
                <a:lnTo>
                  <a:pt x="0" y="0"/>
                </a:lnTo>
                <a:close/>
              </a:path>
            </a:pathLst>
          </a:custGeom>
          <a:blipFill>
            <a:blip r:embed="rId10"/>
            <a:stretch>
              <a:fillRect l="0" t="0" r="0" b="0"/>
            </a:stretch>
          </a:blipFill>
        </p:spPr>
      </p:sp>
      <p:sp>
        <p:nvSpPr>
          <p:cNvPr name="TextBox 16" id="16"/>
          <p:cNvSpPr txBox="true"/>
          <p:nvPr/>
        </p:nvSpPr>
        <p:spPr>
          <a:xfrm rot="0">
            <a:off x="7959154" y="7131962"/>
            <a:ext cx="8370564" cy="1118447"/>
          </a:xfrm>
          <a:prstGeom prst="rect">
            <a:avLst/>
          </a:prstGeom>
        </p:spPr>
        <p:txBody>
          <a:bodyPr anchor="t" rtlCol="false" tIns="0" lIns="0" bIns="0" rIns="0">
            <a:spAutoFit/>
          </a:bodyPr>
          <a:lstStyle/>
          <a:p>
            <a:pPr algn="l">
              <a:lnSpc>
                <a:spcPts val="2928"/>
              </a:lnSpc>
            </a:pPr>
            <a:r>
              <a:rPr lang="en-US" sz="2091" spc="46">
                <a:solidFill>
                  <a:srgbClr val="000000"/>
                </a:solidFill>
                <a:latin typeface="Kollektif"/>
                <a:ea typeface="Kollektif"/>
                <a:cs typeface="Kollektif"/>
                <a:sym typeface="Kollektif"/>
              </a:rPr>
              <a:t>Los próximos avances se centrarán en la conexión con APIs de mensajería externa, captura de evidencia en audio y pruebas de calidad.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DAHYZbKl9bo</dc:identifier>
  <dcterms:modified xsi:type="dcterms:W3CDTF">2011-08-01T06:04:30Z</dcterms:modified>
  <cp:revision>1</cp:revision>
  <dc:title>PPT Capstone 2</dc:title>
</cp:coreProperties>
</file>